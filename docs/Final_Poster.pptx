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38404800" cy="27432000"/>
  <p:notesSz cx="32004000" cy="511032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840">
          <p15:clr>
            <a:srgbClr val="000000"/>
          </p15:clr>
        </p15:guide>
        <p15:guide id="2" pos="454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" roundtripDataSignature="AMtx7mj9fBI24rZHjAv0Qpv/VRtt9kzG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59"/>
    <p:restoredTop sz="94689"/>
  </p:normalViewPr>
  <p:slideViewPr>
    <p:cSldViewPr snapToGrid="0">
      <p:cViewPr>
        <p:scale>
          <a:sx n="112" d="100"/>
          <a:sy n="112" d="100"/>
        </p:scale>
        <p:origin x="-6856" y="-12640"/>
      </p:cViewPr>
      <p:guideLst>
        <p:guide orient="horz" pos="15840"/>
        <p:guide pos="4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22225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18135600" y="22225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sldNum" idx="12"/>
          </p:nvPr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>
            <a:spLocks noGrp="1" noRot="1" noChangeAspect="1"/>
          </p:cNvSpPr>
          <p:nvPr>
            <p:ph type="sldImg" idx="3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0BCBA3BE-584B-F133-1B56-CD497D224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45D9DDFE-650D-20B1-4AF3-4E6E465F4CD1}"/>
              </a:ext>
            </a:extLst>
          </p:cNvPr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7C058D2B-968D-44E0-8429-1BAFC344B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D9C126D4-86A8-036A-ABCF-8B58C4BA94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2990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EA55CBF5-9B48-4A84-1DB1-3B48B76B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98E7B812-71FF-0756-0706-46C8E7D36FA2}"/>
              </a:ext>
            </a:extLst>
          </p:cNvPr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2BB231BC-C620-F486-0863-D324FA16E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2B37E2FD-A5E9-2ED4-554D-68B95A5D3B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978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880360" y="8521700"/>
            <a:ext cx="32644200" cy="58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5760720" y="15544800"/>
            <a:ext cx="26883300" cy="70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5300"/>
              <a:buFont typeface="Times New Roman"/>
              <a:buNone/>
              <a:defRPr/>
            </a:lvl1pPr>
            <a:lvl2pPr lvl="1" algn="ctr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Times New Roman"/>
              <a:buNone/>
              <a:defRPr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100"/>
              <a:buFont typeface="Times New Roman"/>
              <a:buNone/>
              <a:defRPr/>
            </a:lvl3pPr>
            <a:lvl4pPr lvl="3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4pPr>
            <a:lvl5pPr lvl="4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5pPr>
            <a:lvl6pPr lvl="5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6pPr>
            <a:lvl7pPr lvl="6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7pPr>
            <a:lvl8pPr lvl="7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8pPr>
            <a:lvl9pPr lvl="8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 rot="5400000">
            <a:off x="20471190" y="9330750"/>
            <a:ext cx="21945600" cy="816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 rot="5400000">
            <a:off x="4069050" y="1249650"/>
            <a:ext cx="21945600" cy="24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 rot="5400000">
            <a:off x="10972740" y="-167700"/>
            <a:ext cx="16459200" cy="3264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527608" y="19202400"/>
            <a:ext cx="23043000" cy="22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>
            <a:spLocks noGrp="1"/>
          </p:cNvSpPr>
          <p:nvPr>
            <p:ph type="pic" idx="2"/>
          </p:nvPr>
        </p:nvSpPr>
        <p:spPr>
          <a:xfrm>
            <a:off x="7527608" y="2451100"/>
            <a:ext cx="23043000" cy="164592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7527608" y="21469350"/>
            <a:ext cx="23043000" cy="3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920241" y="1092200"/>
            <a:ext cx="12635100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015210" y="1092200"/>
            <a:ext cx="21469500" cy="234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635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Times New Roman"/>
              <a:buChar char="•"/>
              <a:defRPr sz="3000"/>
            </a:lvl1pPr>
            <a:lvl2pPr marL="914400" lvl="1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–"/>
              <a:defRPr sz="2600"/>
            </a:lvl2pPr>
            <a:lvl3pPr marL="1371600" lvl="2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3pPr>
            <a:lvl4pPr marL="1828800" lvl="3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4pPr>
            <a:lvl5pPr marL="2286000" lvl="4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5pPr>
            <a:lvl6pPr marL="2743200" lvl="5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6pPr>
            <a:lvl7pPr marL="3200400" lvl="6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7pPr>
            <a:lvl8pPr marL="3657600" lvl="7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8pPr>
            <a:lvl9pPr marL="4114800" lvl="8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920241" y="5740400"/>
            <a:ext cx="12635100" cy="187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1920240" y="1098550"/>
            <a:ext cx="3456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920241" y="6140450"/>
            <a:ext cx="16968600" cy="25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2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 b="1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2"/>
          </p:nvPr>
        </p:nvSpPr>
        <p:spPr>
          <a:xfrm>
            <a:off x="1920241" y="8699500"/>
            <a:ext cx="16968600" cy="158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1pPr>
            <a:lvl2pPr marL="914400" lvl="1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3pPr>
            <a:lvl4pPr marL="1828800" lvl="3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–"/>
              <a:defRPr sz="1500"/>
            </a:lvl4pPr>
            <a:lvl5pPr marL="2286000" lvl="4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5pPr>
            <a:lvl6pPr marL="2743200" lvl="5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6pPr>
            <a:lvl7pPr marL="3200400" lvl="6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7pPr>
            <a:lvl8pPr marL="3657600" lvl="7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8pPr>
            <a:lvl9pPr marL="4114800" lvl="8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3"/>
          </p:nvPr>
        </p:nvSpPr>
        <p:spPr>
          <a:xfrm>
            <a:off x="19509105" y="6140450"/>
            <a:ext cx="16975500" cy="25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2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 b="1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4"/>
          </p:nvPr>
        </p:nvSpPr>
        <p:spPr>
          <a:xfrm>
            <a:off x="19509105" y="8699500"/>
            <a:ext cx="16975500" cy="158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1pPr>
            <a:lvl2pPr marL="914400" lvl="1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3pPr>
            <a:lvl4pPr marL="1828800" lvl="3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–"/>
              <a:defRPr sz="1500"/>
            </a:lvl4pPr>
            <a:lvl5pPr marL="2286000" lvl="4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5pPr>
            <a:lvl6pPr marL="2743200" lvl="5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6pPr>
            <a:lvl7pPr marL="3200400" lvl="6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7pPr>
            <a:lvl8pPr marL="3657600" lvl="7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8pPr>
            <a:lvl9pPr marL="4114800" lvl="8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162420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2600"/>
            </a:lvl1pPr>
            <a:lvl2pPr marL="914400" lvl="1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200"/>
            </a:lvl2pPr>
            <a:lvl3pPr marL="1371600" lvl="2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–"/>
              <a:defRPr sz="1700"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2"/>
          </p:nvPr>
        </p:nvSpPr>
        <p:spPr>
          <a:xfrm>
            <a:off x="19282410" y="7924800"/>
            <a:ext cx="162420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2600"/>
            </a:lvl1pPr>
            <a:lvl2pPr marL="914400" lvl="1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200"/>
            </a:lvl2pPr>
            <a:lvl3pPr marL="1371600" lvl="2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–"/>
              <a:defRPr sz="1700"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3033713" y="17627600"/>
            <a:ext cx="32644200" cy="544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7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3033713" y="11626850"/>
            <a:ext cx="32644200" cy="60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/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326442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326442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marR="0" lvl="0" indent="-1200150" algn="l" rtl="0">
              <a:lnSpc>
                <a:spcPct val="100000"/>
              </a:lnSpc>
              <a:spcBef>
                <a:spcPts val="3100"/>
              </a:spcBef>
              <a:spcAft>
                <a:spcPts val="0"/>
              </a:spcAft>
              <a:buClr>
                <a:schemeClr val="dk1"/>
              </a:buClr>
              <a:buSzPts val="15300"/>
              <a:buFont typeface="Times New Roman"/>
              <a:buChar char="•"/>
              <a:defRPr sz="15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1054100" algn="l" rtl="0">
              <a:lnSpc>
                <a:spcPct val="100000"/>
              </a:lnSpc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Times New Roman"/>
              <a:buChar char="–"/>
              <a:defRPr sz="1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93345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11100"/>
              <a:buFont typeface="Times New Roman"/>
              <a:buChar char="•"/>
              <a:defRPr sz="11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–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圖片 19">
            <a:extLst>
              <a:ext uri="{FF2B5EF4-FFF2-40B4-BE49-F238E27FC236}">
                <a16:creationId xmlns:a16="http://schemas.microsoft.com/office/drawing/2014/main" id="{AACC6BB5-00F8-6E1F-1C11-0636C9DEC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2456" y="4105842"/>
            <a:ext cx="12318121" cy="8949388"/>
          </a:xfrm>
          <a:prstGeom prst="rect">
            <a:avLst/>
          </a:prstGeom>
        </p:spPr>
      </p:pic>
      <p:sp>
        <p:nvSpPr>
          <p:cNvPr id="89" name="Google Shape;89;p1"/>
          <p:cNvSpPr txBox="1"/>
          <p:nvPr/>
        </p:nvSpPr>
        <p:spPr>
          <a:xfrm>
            <a:off x="11278342" y="20604205"/>
            <a:ext cx="12486348" cy="6384449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983946" y="12173130"/>
            <a:ext cx="10046813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24031947" y="13433435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278343" y="19758106"/>
            <a:ext cx="12486349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/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24031947" y="14285435"/>
            <a:ext cx="13269300" cy="3006301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Deterministic frontier masking (</a:t>
            </a:r>
            <a:r>
              <a:rPr lang="en-US" altLang="zh-TW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eliminates stochastic lookahead, removing all timeouts and raising validity to 84.9%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span repair (</a:t>
            </a:r>
            <a:r>
              <a:rPr lang="en-US" altLang="zh-TW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closes the remaining gap with 99.2% validity, 1.06 mean resamples, by solving joint multi-token violations in one pass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Near-perfect structured generation under discrete diffusion requires both deterministic constraint enforcement and principled joint repair over violated spans</a:t>
            </a:r>
          </a:p>
        </p:txBody>
      </p:sp>
      <p:sp>
        <p:nvSpPr>
          <p:cNvPr id="105" name="Google Shape;105;p1"/>
          <p:cNvSpPr txBox="1"/>
          <p:nvPr/>
        </p:nvSpPr>
        <p:spPr>
          <a:xfrm>
            <a:off x="11278344" y="13430433"/>
            <a:ext cx="1248635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dirty="0">
                <a:solidFill>
                  <a:schemeClr val="dk1"/>
                </a:solidFill>
              </a:rPr>
              <a:t>S</a:t>
            </a: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tochastic vs. Deterministic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1013460" y="3909675"/>
            <a:ext cx="10017300" cy="784371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LAVE</a:t>
            </a:r>
            <a:r>
              <a:rPr lang="en-US" altLang="zh-TW" sz="25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leading method,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11278340" y="14302481"/>
            <a:ext cx="12486350" cy="5148675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700" b="1" u="sng" dirty="0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983945" y="13025129"/>
            <a:ext cx="10046813" cy="13963525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lvl="0" algn="just">
              <a:buSzPts val="2700"/>
            </a:pP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Engineering Optimization (</a:t>
            </a:r>
            <a:r>
              <a:rPr lang="en-US" altLang="zh-TW" sz="28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): 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Frontier-only masking: 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grammar constraints apply exclusively at the first unfilled position; all other parallel slots sample freely, avoiding the K-completion overhead of stochastic lookahead and making token placement fully deterministic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Incremental parser state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 live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LLMatcher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automaton advances token-by-token as tokens are committed, so each mask computation is a diff from the current state rather than a full replay from the prompt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AIMD batching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batch size grows by 1 on each successful commit and resets to 1 on any grammar violation, dynamically balancing throughput against resample risk without manual tuning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Early EOS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once the automaton signals a complete, schema-valid string, remaining diffusion steps are skipped entirely, avoiding wasted forward passes on already-settled tokens</a:t>
            </a:r>
          </a:p>
          <a:p>
            <a:pPr marL="69850" lvl="0" algn="just">
              <a:buClr>
                <a:schemeClr val="dk1"/>
              </a:buClr>
              <a:buSzPts val="2500"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just">
              <a:buSzPts val="2700"/>
            </a:pP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Algorithmic Innovation (</a:t>
            </a:r>
            <a:r>
              <a:rPr lang="en-US" altLang="zh-TW" sz="28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): 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Violation detection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after each batch unmask,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extend_prefix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walks the committed sequence through the grammar automaton; the first position where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fails marks the start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c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of the violated span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Span boundary (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find_constraint_end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probes forward from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c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using the automaton while tracking bracket depth in the original token sequence; the span end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is set at the first grammar-consistent junction where net bracket depth returns to zero, preventing the DP from stopping inside an unclosed array or object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1 – rollback exploration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for each position in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[c, s)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iterates over top-K tokens, calling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then rollback on the shared matcher to cheaply score all candidates in-place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2 – clone winners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only the surviving DFA states (one per unique automaton state reachable at this step) are deep-copied; memory and clone cost scale with the number of reachable DFA states (~20–200 for typical JSON schemas), not with K</a:t>
            </a:r>
            <a:endParaRPr lang="en-US" sz="2500" dirty="0">
              <a:solidFill>
                <a:schemeClr val="dk1"/>
              </a:solidFill>
              <a:latin typeface="Courier New" panose="02070309020205020404" pitchFamily="49" charset="0"/>
              <a:ea typeface="Times New Roman"/>
              <a:cs typeface="Courier New" panose="02070309020205020404" pitchFamily="49" charset="0"/>
              <a:sym typeface="Times New Roman"/>
            </a:endParaRP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merge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when two token paths arrive at the same DFA state, the lower-log-probability path is pruned; the backtracked sequence is thus globally optimal over the span under the current forward's log-probabilities</a:t>
            </a:r>
          </a:p>
        </p:txBody>
      </p:sp>
      <p:sp>
        <p:nvSpPr>
          <p:cNvPr id="111" name="Google Shape;111;p1"/>
          <p:cNvSpPr txBox="1"/>
          <p:nvPr/>
        </p:nvSpPr>
        <p:spPr>
          <a:xfrm>
            <a:off x="11697525" y="25867259"/>
            <a:ext cx="11667655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1: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jsb_medium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results (T = 128 steps). LAVE resamples count lookahead verification draws;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resamples count token re-mask events. </a:t>
            </a:r>
            <a:endParaRPr sz="250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" name="Google Shape;103;p1">
            <a:extLst>
              <a:ext uri="{FF2B5EF4-FFF2-40B4-BE49-F238E27FC236}">
                <a16:creationId xmlns:a16="http://schemas.microsoft.com/office/drawing/2014/main" id="{D51081A6-BF71-47E6-D523-05A91870080C}"/>
              </a:ext>
            </a:extLst>
          </p:cNvPr>
          <p:cNvSpPr txBox="1"/>
          <p:nvPr/>
        </p:nvSpPr>
        <p:spPr>
          <a:xfrm>
            <a:off x="11298012" y="3063312"/>
            <a:ext cx="12466683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Motivated Example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06;p1">
            <a:extLst>
              <a:ext uri="{FF2B5EF4-FFF2-40B4-BE49-F238E27FC236}">
                <a16:creationId xmlns:a16="http://schemas.microsoft.com/office/drawing/2014/main" id="{9194FEAC-7491-8699-246D-9AA3C6EB2462}"/>
              </a:ext>
            </a:extLst>
          </p:cNvPr>
          <p:cNvSpPr txBox="1"/>
          <p:nvPr/>
        </p:nvSpPr>
        <p:spPr>
          <a:xfrm>
            <a:off x="11298011" y="3927067"/>
            <a:ext cx="12466682" cy="926823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Google Shape;103;p1">
            <a:extLst>
              <a:ext uri="{FF2B5EF4-FFF2-40B4-BE49-F238E27FC236}">
                <a16:creationId xmlns:a16="http://schemas.microsoft.com/office/drawing/2014/main" id="{EDB9B738-623B-CFA5-C3A9-5CE19BA608D0}"/>
              </a:ext>
            </a:extLst>
          </p:cNvPr>
          <p:cNvSpPr txBox="1"/>
          <p:nvPr/>
        </p:nvSpPr>
        <p:spPr>
          <a:xfrm>
            <a:off x="24031947" y="3051907"/>
            <a:ext cx="13233428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Greedy vs. DP Viterbi Repair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6;p1">
            <a:extLst>
              <a:ext uri="{FF2B5EF4-FFF2-40B4-BE49-F238E27FC236}">
                <a16:creationId xmlns:a16="http://schemas.microsoft.com/office/drawing/2014/main" id="{E292DDF0-916F-2624-6920-260E913DE65D}"/>
              </a:ext>
            </a:extLst>
          </p:cNvPr>
          <p:cNvSpPr txBox="1"/>
          <p:nvPr/>
        </p:nvSpPr>
        <p:spPr>
          <a:xfrm>
            <a:off x="24031944" y="3915312"/>
            <a:ext cx="13233428" cy="9268231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" name="Google Shape;104;p1">
            <a:extLst>
              <a:ext uri="{FF2B5EF4-FFF2-40B4-BE49-F238E27FC236}">
                <a16:creationId xmlns:a16="http://schemas.microsoft.com/office/drawing/2014/main" id="{D1DFE31F-C7EA-359A-985D-05FCBCBE35E0}"/>
              </a:ext>
            </a:extLst>
          </p:cNvPr>
          <p:cNvSpPr txBox="1"/>
          <p:nvPr/>
        </p:nvSpPr>
        <p:spPr>
          <a:xfrm>
            <a:off x="24031947" y="25603264"/>
            <a:ext cx="13269300" cy="138539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References:</a:t>
            </a:r>
          </a:p>
          <a:p>
            <a:pPr lvl="0" algn="just">
              <a:buSzPts val="2700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Zhang et al., “Lookahead-then-Verify: Reliable Constrained Decoding for Diffusion LLMs under Context-Free Grammars”,  ACM’26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97;p1">
            <a:extLst>
              <a:ext uri="{FF2B5EF4-FFF2-40B4-BE49-F238E27FC236}">
                <a16:creationId xmlns:a16="http://schemas.microsoft.com/office/drawing/2014/main" id="{A472E736-DFC6-ACFC-1BDC-59153D48348F}"/>
              </a:ext>
            </a:extLst>
          </p:cNvPr>
          <p:cNvSpPr txBox="1"/>
          <p:nvPr/>
        </p:nvSpPr>
        <p:spPr>
          <a:xfrm>
            <a:off x="24031947" y="20758577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Limitations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04;p1">
            <a:extLst>
              <a:ext uri="{FF2B5EF4-FFF2-40B4-BE49-F238E27FC236}">
                <a16:creationId xmlns:a16="http://schemas.microsoft.com/office/drawing/2014/main" id="{8013CE5E-4C4B-547A-3195-6D20511AC32A}"/>
              </a:ext>
            </a:extLst>
          </p:cNvPr>
          <p:cNvSpPr txBox="1"/>
          <p:nvPr/>
        </p:nvSpPr>
        <p:spPr>
          <a:xfrm>
            <a:off x="24031947" y="21610577"/>
            <a:ext cx="13269300" cy="3732988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Validity ≠ Content Quality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grammar constraints guarantee structural correctness but cannot improve semantic richness, LLaDA-8B-Instruct still produces degenerate yet valid outputs ([], {}, "x") on complex schemas, a property of the underlying model rather than the constraint method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 cannot fix empty-value degenerate outputs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the Viterbi repair only triggers on grammar violations; once generation completes, {} and [] are already placed as concrete tokens (no MASK positions remain), and both are grammatically valid JSON, the automaton never raises a violation, so data: {} or links: [] are never visible to the DP; this is a fundamental limitation of violation-driven repair, not a beam-width issue</a:t>
            </a:r>
          </a:p>
        </p:txBody>
      </p:sp>
      <p:sp>
        <p:nvSpPr>
          <p:cNvPr id="11" name="Google Shape;97;p1">
            <a:extLst>
              <a:ext uri="{FF2B5EF4-FFF2-40B4-BE49-F238E27FC236}">
                <a16:creationId xmlns:a16="http://schemas.microsoft.com/office/drawing/2014/main" id="{59977086-9D42-2ABE-6FFA-358AF48C659C}"/>
              </a:ext>
            </a:extLst>
          </p:cNvPr>
          <p:cNvSpPr txBox="1"/>
          <p:nvPr/>
        </p:nvSpPr>
        <p:spPr>
          <a:xfrm>
            <a:off x="24031947" y="17645753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04;p1">
            <a:extLst>
              <a:ext uri="{FF2B5EF4-FFF2-40B4-BE49-F238E27FC236}">
                <a16:creationId xmlns:a16="http://schemas.microsoft.com/office/drawing/2014/main" id="{606A1702-1557-8989-7DE2-486560C8AD80}"/>
              </a:ext>
            </a:extLst>
          </p:cNvPr>
          <p:cNvSpPr txBox="1"/>
          <p:nvPr/>
        </p:nvSpPr>
        <p:spPr>
          <a:xfrm>
            <a:off x="24031947" y="18497753"/>
            <a:ext cx="13269300" cy="1906807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Extend evaluation to additional benchmark splits (e.g.,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jsb_hard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code grammars) and larger backbones to test generalization beyond LLaDA-8B</a:t>
            </a: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sparse automaton acceleration (CSR-based DFA transitions) to reduce DP cost on grammars with large state spaces or wide vocabularies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67AB991F-5E01-287B-54D6-E15FB5F48C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70076" y="4163606"/>
            <a:ext cx="12993041" cy="8670237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26D6DDAE-8B6E-6B76-B1B4-5A17D7395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2552" y="20634933"/>
            <a:ext cx="10717927" cy="5207499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0F39DF6E-2399-B88D-844F-00BC0F88E0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03750" y="14348348"/>
            <a:ext cx="12032973" cy="51028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0626B726-D29D-6BF2-C46B-36D313764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圖片 22">
            <a:extLst>
              <a:ext uri="{FF2B5EF4-FFF2-40B4-BE49-F238E27FC236}">
                <a16:creationId xmlns:a16="http://schemas.microsoft.com/office/drawing/2014/main" id="{996F966A-40A0-0DDD-BC13-FB1381A1A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6679" y="14309630"/>
            <a:ext cx="11559984" cy="4690723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2DEA0415-4A79-E81E-C26E-FD1D34E507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60" y="21650288"/>
            <a:ext cx="4521200" cy="4800600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2E3F7550-8610-3DB1-FE1E-BD8246FCC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267" y="21650288"/>
            <a:ext cx="4660900" cy="488950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E18DF04-F882-D800-DB7F-47336F0BDB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13354" y="4054716"/>
            <a:ext cx="6052021" cy="9128828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B1B1F37-C4C7-1F84-489F-5BF3A67026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04209" y="3995475"/>
            <a:ext cx="6939120" cy="9059755"/>
          </a:xfrm>
          <a:prstGeom prst="rect">
            <a:avLst/>
          </a:prstGeom>
        </p:spPr>
      </p:pic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A5DEFA05-BE69-DA57-A11E-AC175948CE5A}"/>
              </a:ext>
            </a:extLst>
          </p:cNvPr>
          <p:cNvSpPr txBox="1"/>
          <p:nvPr/>
        </p:nvSpPr>
        <p:spPr>
          <a:xfrm>
            <a:off x="24014011" y="14284316"/>
            <a:ext cx="13269300" cy="5691569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5996B830-A321-284D-2AA1-3AE1001E3A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737E55AC-1949-5C54-2023-115E84E128B3}"/>
              </a:ext>
            </a:extLst>
          </p:cNvPr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>
            <a:extLst>
              <a:ext uri="{FF2B5EF4-FFF2-40B4-BE49-F238E27FC236}">
                <a16:creationId xmlns:a16="http://schemas.microsoft.com/office/drawing/2014/main" id="{87C73698-FBDF-E338-704A-4FB5CDECBC48}"/>
              </a:ext>
            </a:extLst>
          </p:cNvPr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>
            <a:extLst>
              <a:ext uri="{FF2B5EF4-FFF2-40B4-BE49-F238E27FC236}">
                <a16:creationId xmlns:a16="http://schemas.microsoft.com/office/drawing/2014/main" id="{66320BBB-B04F-2227-EC10-8A8F1206AF6B}"/>
              </a:ext>
            </a:extLst>
          </p:cNvPr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>
            <a:extLst>
              <a:ext uri="{FF2B5EF4-FFF2-40B4-BE49-F238E27FC236}">
                <a16:creationId xmlns:a16="http://schemas.microsoft.com/office/drawing/2014/main" id="{79F7A64A-6D0A-2648-5BC1-FB336F44855B}"/>
              </a:ext>
            </a:extLst>
          </p:cNvPr>
          <p:cNvSpPr txBox="1"/>
          <p:nvPr/>
        </p:nvSpPr>
        <p:spPr>
          <a:xfrm>
            <a:off x="11280066" y="13436780"/>
            <a:ext cx="12472662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702AC7AD-C025-5504-5BB2-A79E361A5D23}"/>
              </a:ext>
            </a:extLst>
          </p:cNvPr>
          <p:cNvSpPr txBox="1"/>
          <p:nvPr/>
        </p:nvSpPr>
        <p:spPr>
          <a:xfrm>
            <a:off x="23975423" y="20184106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 and Future Work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1DCE8FF3-3024-CED5-C709-E179CA4A473F}"/>
              </a:ext>
            </a:extLst>
          </p:cNvPr>
          <p:cNvSpPr txBox="1"/>
          <p:nvPr/>
        </p:nvSpPr>
        <p:spPr>
          <a:xfrm>
            <a:off x="24014011" y="13436780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>
            <a:extLst>
              <a:ext uri="{FF2B5EF4-FFF2-40B4-BE49-F238E27FC236}">
                <a16:creationId xmlns:a16="http://schemas.microsoft.com/office/drawing/2014/main" id="{1FEAD620-EFE8-C8D9-47D0-3E2A65D6CC18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>
            <a:extLst>
              <a:ext uri="{FF2B5EF4-FFF2-40B4-BE49-F238E27FC236}">
                <a16:creationId xmlns:a16="http://schemas.microsoft.com/office/drawing/2014/main" id="{D3118DB8-6FB9-1C7A-D979-E1C89823DFB2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>
            <a:extLst>
              <a:ext uri="{FF2B5EF4-FFF2-40B4-BE49-F238E27FC236}">
                <a16:creationId xmlns:a16="http://schemas.microsoft.com/office/drawing/2014/main" id="{3801DDD1-47CD-C6C7-42D7-3976BF6641DD}"/>
              </a:ext>
            </a:extLst>
          </p:cNvPr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>
            <a:extLst>
              <a:ext uri="{FF2B5EF4-FFF2-40B4-BE49-F238E27FC236}">
                <a16:creationId xmlns:a16="http://schemas.microsoft.com/office/drawing/2014/main" id="{CF667371-167E-B28C-067A-A205706336AD}"/>
              </a:ext>
            </a:extLst>
          </p:cNvPr>
          <p:cNvSpPr txBox="1"/>
          <p:nvPr/>
        </p:nvSpPr>
        <p:spPr>
          <a:xfrm>
            <a:off x="23975423" y="21036106"/>
            <a:ext cx="13269300" cy="4126487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Conclusion:</a:t>
            </a:r>
            <a:endParaRPr lang="zh-TW" alt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Deterministic frontier masking (</a:t>
            </a:r>
            <a:r>
              <a:rPr lang="en-US" altLang="zh-TW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eliminates stochastic lookahead, removing all timeouts and raising validity to 84.9%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span repair (</a:t>
            </a:r>
            <a:r>
              <a:rPr lang="en-US" altLang="zh-TW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closes the remaining gap with 99.2% validity, 1.06 mean resamples, by solving joint multi-token violations in one pass</a:t>
            </a:r>
            <a:endParaRPr 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Future work: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Extend to code grammars and stricter JSON splits beyond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jsb_medium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close the final 0.8% gap with tighter completion-phase fallbacks</a:t>
            </a: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sparse automata acceleration for large-vocabulary efficiency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p1">
            <a:extLst>
              <a:ext uri="{FF2B5EF4-FFF2-40B4-BE49-F238E27FC236}">
                <a16:creationId xmlns:a16="http://schemas.microsoft.com/office/drawing/2014/main" id="{72E8A364-1FF4-7A2F-C22F-65BD5DDAF5FB}"/>
              </a:ext>
            </a:extLst>
          </p:cNvPr>
          <p:cNvSpPr txBox="1"/>
          <p:nvPr/>
        </p:nvSpPr>
        <p:spPr>
          <a:xfrm>
            <a:off x="983946" y="20614767"/>
            <a:ext cx="10058729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dirty="0">
                <a:solidFill>
                  <a:schemeClr val="dk1"/>
                </a:solidFill>
              </a:rPr>
              <a:t>S</a:t>
            </a: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tochastic vs. Deterministic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>
            <a:extLst>
              <a:ext uri="{FF2B5EF4-FFF2-40B4-BE49-F238E27FC236}">
                <a16:creationId xmlns:a16="http://schemas.microsoft.com/office/drawing/2014/main" id="{3A10BAD3-0474-E842-FE45-554654B1ED95}"/>
              </a:ext>
            </a:extLst>
          </p:cNvPr>
          <p:cNvSpPr txBox="1"/>
          <p:nvPr/>
        </p:nvSpPr>
        <p:spPr>
          <a:xfrm>
            <a:off x="1013460" y="3909675"/>
            <a:ext cx="10017300" cy="133503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LAVE</a:t>
            </a:r>
            <a:r>
              <a:rPr lang="en-US" altLang="zh-TW" sz="25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leading method,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Solution: </a:t>
            </a:r>
            <a:endParaRPr sz="2400" b="0" i="0" u="none" strike="noStrike" cap="none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Optimization (Efficiency Side –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 stochastic lookahead with deterministic frontier masking, the valid token set is computed directly at each position via an incremental grammar automaton, with no random completions drawn.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Implemente an Additive Increase / Multiplicative Decrease (AIMD) mechanism to dynamically scale token submission batches, maximizing hardware throughput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Algorithmic Innovation (Accuracy Side –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Detects violated spans [c, s) after each batch unmask, positions where the committed tokens break the grammar automaton state.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Runs a Viterbi Dynamic Programming over the entire span, tracking grammar DFA states across top-K token candidates to jointly select the highest-probability valid replacement sequence in one pass.</a:t>
            </a: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>
            <a:extLst>
              <a:ext uri="{FF2B5EF4-FFF2-40B4-BE49-F238E27FC236}">
                <a16:creationId xmlns:a16="http://schemas.microsoft.com/office/drawing/2014/main" id="{6B3F5489-B536-73D6-5F6E-E2A6BD41AC12}"/>
              </a:ext>
            </a:extLst>
          </p:cNvPr>
          <p:cNvSpPr txBox="1"/>
          <p:nvPr/>
        </p:nvSpPr>
        <p:spPr>
          <a:xfrm>
            <a:off x="983975" y="21476099"/>
            <a:ext cx="10058700" cy="5148675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700" b="1" u="sng" dirty="0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>
            <a:extLst>
              <a:ext uri="{FF2B5EF4-FFF2-40B4-BE49-F238E27FC236}">
                <a16:creationId xmlns:a16="http://schemas.microsoft.com/office/drawing/2014/main" id="{FCB42526-D3E2-EADB-99A5-29012FC2396E}"/>
              </a:ext>
            </a:extLst>
          </p:cNvPr>
          <p:cNvSpPr txBox="1"/>
          <p:nvPr/>
        </p:nvSpPr>
        <p:spPr>
          <a:xfrm>
            <a:off x="11298013" y="14284316"/>
            <a:ext cx="12442800" cy="1236022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24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Incremental parser state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maintains a live grammar automaton (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LLMatcher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that advances token-by-token, so mask computation at each position requires only a diff from the previous state rather than recomputing from scratch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Async mask overlap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CPU grammar mask construction runs concurrently with the GPU forward pass, by the time logits are ready, the allowed-token mask is already computed, effectively hiding constraint overhead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AIMD batching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batch size grows additively when tokens are accepted and shrinks multiplicatively on violation, dynamically balancing throughput against resample risk without manual tuning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Early EOS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once the automaton signals a complete, schema-valid string, remaining diffusion steps are skipped, avoiding unnecessary forward passes on already-settled tokens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Violation detection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after each batch unmask,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extend_prefix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walks the committed sequence through the grammar automaton; the first position where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fails marks the start c of the violated span [c, s)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1 – rollback exploration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for each position in [c, s), iterates over top-K tokens and calls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then rollback on the shared matcher, no cloning, pure in-place state manipulation, to cheaply score all candidates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2 – clone winners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only the surviving DFA states (one per unique automaton state reached) are deep-copied, so memory scales with grammar branching factor rather than K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merge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when two token paths arrive at the same DFA state, the lower-log-probability path is pruned, guaranteeing the backtracked sequence is globally optimal over the span under the current forward's log-probabilities</a:t>
            </a:r>
          </a:p>
        </p:txBody>
      </p:sp>
      <p:sp>
        <p:nvSpPr>
          <p:cNvPr id="111" name="Google Shape;111;p1">
            <a:extLst>
              <a:ext uri="{FF2B5EF4-FFF2-40B4-BE49-F238E27FC236}">
                <a16:creationId xmlns:a16="http://schemas.microsoft.com/office/drawing/2014/main" id="{079FD56C-69FD-3F2C-075B-3DD308D09D2C}"/>
              </a:ext>
            </a:extLst>
          </p:cNvPr>
          <p:cNvSpPr txBox="1"/>
          <p:nvPr/>
        </p:nvSpPr>
        <p:spPr>
          <a:xfrm>
            <a:off x="24150805" y="19000353"/>
            <a:ext cx="13011731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1: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jsb_medium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results (T = 128 steps). LAVE resamples count lookahead verification draws;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resamples count token re-mask events. </a:t>
            </a:r>
            <a:endParaRPr sz="250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CB9300-3A9B-C646-0806-5B3AE7DB89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41456" y="4094589"/>
            <a:ext cx="12139010" cy="8993614"/>
          </a:xfrm>
          <a:prstGeom prst="rect">
            <a:avLst/>
          </a:prstGeom>
        </p:spPr>
      </p:pic>
      <p:sp>
        <p:nvSpPr>
          <p:cNvPr id="6" name="Google Shape;103;p1">
            <a:extLst>
              <a:ext uri="{FF2B5EF4-FFF2-40B4-BE49-F238E27FC236}">
                <a16:creationId xmlns:a16="http://schemas.microsoft.com/office/drawing/2014/main" id="{D3C71ECD-537C-D913-4238-F20886F20B7B}"/>
              </a:ext>
            </a:extLst>
          </p:cNvPr>
          <p:cNvSpPr txBox="1"/>
          <p:nvPr/>
        </p:nvSpPr>
        <p:spPr>
          <a:xfrm>
            <a:off x="11298012" y="3063312"/>
            <a:ext cx="12466683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Motivated Example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06;p1">
            <a:extLst>
              <a:ext uri="{FF2B5EF4-FFF2-40B4-BE49-F238E27FC236}">
                <a16:creationId xmlns:a16="http://schemas.microsoft.com/office/drawing/2014/main" id="{F470296E-9E53-D936-D627-FD1F6F352D37}"/>
              </a:ext>
            </a:extLst>
          </p:cNvPr>
          <p:cNvSpPr txBox="1"/>
          <p:nvPr/>
        </p:nvSpPr>
        <p:spPr>
          <a:xfrm>
            <a:off x="11298012" y="3915312"/>
            <a:ext cx="12466682" cy="926823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Google Shape;103;p1">
            <a:extLst>
              <a:ext uri="{FF2B5EF4-FFF2-40B4-BE49-F238E27FC236}">
                <a16:creationId xmlns:a16="http://schemas.microsoft.com/office/drawing/2014/main" id="{FAD4DC5C-1D72-EC2A-4FF5-5E83992883C2}"/>
              </a:ext>
            </a:extLst>
          </p:cNvPr>
          <p:cNvSpPr txBox="1"/>
          <p:nvPr/>
        </p:nvSpPr>
        <p:spPr>
          <a:xfrm>
            <a:off x="24031947" y="3051907"/>
            <a:ext cx="13233428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Greedy vs. DP Viterbi Repair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6;p1">
            <a:extLst>
              <a:ext uri="{FF2B5EF4-FFF2-40B4-BE49-F238E27FC236}">
                <a16:creationId xmlns:a16="http://schemas.microsoft.com/office/drawing/2014/main" id="{A92B721D-A6B7-1DAA-A99C-E292FD0475DF}"/>
              </a:ext>
            </a:extLst>
          </p:cNvPr>
          <p:cNvSpPr txBox="1"/>
          <p:nvPr/>
        </p:nvSpPr>
        <p:spPr>
          <a:xfrm>
            <a:off x="24031947" y="3909608"/>
            <a:ext cx="13233428" cy="9268231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" name="Google Shape;104;p1">
            <a:extLst>
              <a:ext uri="{FF2B5EF4-FFF2-40B4-BE49-F238E27FC236}">
                <a16:creationId xmlns:a16="http://schemas.microsoft.com/office/drawing/2014/main" id="{3EA8B80F-6596-495E-BAC5-95A2970E200D}"/>
              </a:ext>
            </a:extLst>
          </p:cNvPr>
          <p:cNvSpPr txBox="1"/>
          <p:nvPr/>
        </p:nvSpPr>
        <p:spPr>
          <a:xfrm>
            <a:off x="23975423" y="25384836"/>
            <a:ext cx="13269300" cy="125970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References:</a:t>
            </a:r>
          </a:p>
          <a:p>
            <a:pPr lvl="0" algn="just">
              <a:buSzPts val="2700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Zhang et al., “Lookahead-then-Verify: Reliable Constrained Decoding for Diffusion LLMs under Context-Free Grammars”,  ACM’26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41121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F5055272-B45A-88E6-97CA-12B22703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D37A585E-2359-B426-4666-B08520A36169}"/>
              </a:ext>
            </a:extLst>
          </p:cNvPr>
          <p:cNvSpPr txBox="1"/>
          <p:nvPr/>
        </p:nvSpPr>
        <p:spPr>
          <a:xfrm>
            <a:off x="23996096" y="9808688"/>
            <a:ext cx="13269300" cy="11195100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F4D12F2C-6CE7-42C2-F3E8-F4EC74CA21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1" name="Google Shape;91;p1">
            <a:extLst>
              <a:ext uri="{FF2B5EF4-FFF2-40B4-BE49-F238E27FC236}">
                <a16:creationId xmlns:a16="http://schemas.microsoft.com/office/drawing/2014/main" id="{DB4AFF84-A7E0-6EF1-6E88-7C654F2BC781}"/>
              </a:ext>
            </a:extLst>
          </p:cNvPr>
          <p:cNvSpPr txBox="1"/>
          <p:nvPr/>
        </p:nvSpPr>
        <p:spPr>
          <a:xfrm>
            <a:off x="11286581" y="3054425"/>
            <a:ext cx="26004000" cy="6459300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253F4355-7C50-F754-8291-672CD4619166}"/>
              </a:ext>
            </a:extLst>
          </p:cNvPr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>
            <a:extLst>
              <a:ext uri="{FF2B5EF4-FFF2-40B4-BE49-F238E27FC236}">
                <a16:creationId xmlns:a16="http://schemas.microsoft.com/office/drawing/2014/main" id="{55169D7D-56A7-4ADF-D7EE-F7A96F04615A}"/>
              </a:ext>
            </a:extLst>
          </p:cNvPr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>
            <a:extLst>
              <a:ext uri="{FF2B5EF4-FFF2-40B4-BE49-F238E27FC236}">
                <a16:creationId xmlns:a16="http://schemas.microsoft.com/office/drawing/2014/main" id="{32FF96FC-8312-BF2C-A364-FC968D7B8EE6}"/>
              </a:ext>
            </a:extLst>
          </p:cNvPr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>
            <a:extLst>
              <a:ext uri="{FF2B5EF4-FFF2-40B4-BE49-F238E27FC236}">
                <a16:creationId xmlns:a16="http://schemas.microsoft.com/office/drawing/2014/main" id="{117A9804-DC74-784A-88A4-BF11AA5989CD}"/>
              </a:ext>
            </a:extLst>
          </p:cNvPr>
          <p:cNvSpPr txBox="1"/>
          <p:nvPr/>
        </p:nvSpPr>
        <p:spPr>
          <a:xfrm>
            <a:off x="11298013" y="9802225"/>
            <a:ext cx="124428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>
            <a:extLst>
              <a:ext uri="{FF2B5EF4-FFF2-40B4-BE49-F238E27FC236}">
                <a16:creationId xmlns:a16="http://schemas.microsoft.com/office/drawing/2014/main" id="{1236294E-8CBE-7495-EF9A-F13D351BA728}"/>
              </a:ext>
            </a:extLst>
          </p:cNvPr>
          <p:cNvSpPr txBox="1"/>
          <p:nvPr/>
        </p:nvSpPr>
        <p:spPr>
          <a:xfrm>
            <a:off x="11297985" y="21682900"/>
            <a:ext cx="12442800" cy="4941900"/>
          </a:xfrm>
          <a:prstGeom prst="rect">
            <a:avLst/>
          </a:prstGeom>
          <a:noFill/>
          <a:ln w="12700" cap="flat" cmpd="sng">
            <a:solidFill>
              <a:srgbClr val="0057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Reranker: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bge-reranker-large yields MBPP gains; weaker rerankers consistently underperform the no-rerank baseline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Increasing prefilter n beyond 20 degrades pass@1, likely due to noisy candidate overload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Blend weights have negligible effect once n is small and the reranker is strong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endParaRPr sz="2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Context Summarization:</a:t>
            </a:r>
            <a:endParaRPr sz="250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Applying summarization didn’t improve StarCoder2-7B performance on MBPP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Summarization succeeded at reducing input size but sacrificed semantic fidelity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Text-trained summarizers strip away critical program semantics, making them poorly suited to preserve programming logic or structure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Generic text-style summarization does not benefit RAG-based code generation</a:t>
            </a:r>
            <a:endParaRPr sz="2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255564B7-AD70-C9A8-B274-E61E9A25587F}"/>
              </a:ext>
            </a:extLst>
          </p:cNvPr>
          <p:cNvSpPr txBox="1"/>
          <p:nvPr/>
        </p:nvSpPr>
        <p:spPr>
          <a:xfrm>
            <a:off x="23996096" y="21181525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Future Wor</a:t>
            </a:r>
            <a:r>
              <a:rPr lang="en-US" sz="3300" b="1" dirty="0">
                <a:solidFill>
                  <a:schemeClr val="dk1"/>
                </a:solidFill>
              </a:rPr>
              <a:t>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>
            <a:extLst>
              <a:ext uri="{FF2B5EF4-FFF2-40B4-BE49-F238E27FC236}">
                <a16:creationId xmlns:a16="http://schemas.microsoft.com/office/drawing/2014/main" id="{4ACB3BC0-2E44-2026-75AB-C34D3CE9DFC0}"/>
              </a:ext>
            </a:extLst>
          </p:cNvPr>
          <p:cNvSpPr txBox="1"/>
          <p:nvPr/>
        </p:nvSpPr>
        <p:spPr>
          <a:xfrm>
            <a:off x="11297999" y="20830888"/>
            <a:ext cx="124428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Analysis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>
            <a:extLst>
              <a:ext uri="{FF2B5EF4-FFF2-40B4-BE49-F238E27FC236}">
                <a16:creationId xmlns:a16="http://schemas.microsoft.com/office/drawing/2014/main" id="{2FE6640F-AF7C-0E5C-4E49-3FDD63E8A8A0}"/>
              </a:ext>
            </a:extLst>
          </p:cNvPr>
          <p:cNvSpPr txBox="1"/>
          <p:nvPr/>
        </p:nvSpPr>
        <p:spPr>
          <a:xfrm>
            <a:off x="11286590" y="3054426"/>
            <a:ext cx="260040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Pipeline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8AAED11B-576D-FA99-E226-19464DC3787C}"/>
              </a:ext>
            </a:extLst>
          </p:cNvPr>
          <p:cNvSpPr txBox="1"/>
          <p:nvPr/>
        </p:nvSpPr>
        <p:spPr>
          <a:xfrm>
            <a:off x="23994495" y="9802213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>
            <a:extLst>
              <a:ext uri="{FF2B5EF4-FFF2-40B4-BE49-F238E27FC236}">
                <a16:creationId xmlns:a16="http://schemas.microsoft.com/office/drawing/2014/main" id="{F1114F79-0548-C79A-C6E7-CDDE8496BFF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>
            <a:extLst>
              <a:ext uri="{FF2B5EF4-FFF2-40B4-BE49-F238E27FC236}">
                <a16:creationId xmlns:a16="http://schemas.microsoft.com/office/drawing/2014/main" id="{F39B6851-45B7-13B6-10B9-6F5C93A078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>
            <a:extLst>
              <a:ext uri="{FF2B5EF4-FFF2-40B4-BE49-F238E27FC236}">
                <a16:creationId xmlns:a16="http://schemas.microsoft.com/office/drawing/2014/main" id="{8C7E5CC2-5904-2524-C853-BB11CC7983E3}"/>
              </a:ext>
            </a:extLst>
          </p:cNvPr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>
            <a:extLst>
              <a:ext uri="{FF2B5EF4-FFF2-40B4-BE49-F238E27FC236}">
                <a16:creationId xmlns:a16="http://schemas.microsoft.com/office/drawing/2014/main" id="{011C63FA-7D7F-87FD-5DCE-07EFDB1FD568}"/>
              </a:ext>
            </a:extLst>
          </p:cNvPr>
          <p:cNvSpPr txBox="1"/>
          <p:nvPr/>
        </p:nvSpPr>
        <p:spPr>
          <a:xfrm>
            <a:off x="23996075" y="22033525"/>
            <a:ext cx="13269300" cy="45912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Advanced Summarization Strategies: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Investigate hybrid approaches that combine natural-language abstraction with symbolic representations to maintain logical fidelity and reduce loss of critical implementation details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Code Based Reranking:</a:t>
            </a:r>
            <a:endParaRPr sz="2700" b="1" i="0" u="sng" strike="noStrike" cap="none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learned or supervised reranking models trained on code-specific relevance signals, such as API usage similarity, dependency paths, or semantic proximity between functions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Hierarchical Compression for Repository-Scale Input: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multi-level compression that preserves semantic structure rather than raw text, allowing efficient injection of repository-level information into long contexts</a:t>
            </a:r>
            <a:endParaRPr sz="2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p1">
            <a:extLst>
              <a:ext uri="{FF2B5EF4-FFF2-40B4-BE49-F238E27FC236}">
                <a16:creationId xmlns:a16="http://schemas.microsoft.com/office/drawing/2014/main" id="{98C784CA-A477-0E89-E8E5-62CB9D2C07E0}"/>
              </a:ext>
            </a:extLst>
          </p:cNvPr>
          <p:cNvSpPr txBox="1"/>
          <p:nvPr/>
        </p:nvSpPr>
        <p:spPr>
          <a:xfrm>
            <a:off x="1025404" y="175125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Related Work</a:t>
            </a:r>
            <a:r>
              <a:rPr lang="en-US" sz="3300" b="1">
                <a:solidFill>
                  <a:schemeClr val="dk1"/>
                </a:solidFill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>
            <a:extLst>
              <a:ext uri="{FF2B5EF4-FFF2-40B4-BE49-F238E27FC236}">
                <a16:creationId xmlns:a16="http://schemas.microsoft.com/office/drawing/2014/main" id="{E24586C5-B859-F78B-FB06-5D9F215099BB}"/>
              </a:ext>
            </a:extLst>
          </p:cNvPr>
          <p:cNvSpPr txBox="1"/>
          <p:nvPr/>
        </p:nvSpPr>
        <p:spPr>
          <a:xfrm>
            <a:off x="1013460" y="3909675"/>
            <a:ext cx="10017300" cy="133503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leading method (LAVE)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Solution: </a:t>
            </a:r>
            <a:endParaRPr sz="2400" b="0" i="0" u="none" strike="noStrike" cap="none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Optimization (Efficiency Side)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 stochastic lookahead with deterministic frontier masking, the valid token set is computed directly at each position via an incremental grammar automaton, with no random completions drawn.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Implemente an Additive Increase / Multiplicative Decrease (AIMD) mechanism to dynamically scale token submission batches, maximizing hardware throughput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Algorithmic Innovation (Accuracy Side)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Detects violated spans [c, s) after each batch unmask, positions where the committed tokens break the grammar automaton state.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Runs a Viterbi DP over the entire span, tracking grammar DFA states across top-K token candidates to jointly select the highest-probability valid replacement sequence in one pass.</a:t>
            </a: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>
            <a:extLst>
              <a:ext uri="{FF2B5EF4-FFF2-40B4-BE49-F238E27FC236}">
                <a16:creationId xmlns:a16="http://schemas.microsoft.com/office/drawing/2014/main" id="{CB797535-945B-3CEF-16DD-6E0A5F1065BC}"/>
              </a:ext>
            </a:extLst>
          </p:cNvPr>
          <p:cNvSpPr txBox="1"/>
          <p:nvPr/>
        </p:nvSpPr>
        <p:spPr>
          <a:xfrm>
            <a:off x="983975" y="18364575"/>
            <a:ext cx="10058700" cy="82602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CodeRAG-Bench: </a:t>
            </a:r>
            <a:endParaRPr sz="2400" b="0" i="0" u="none" strike="noStrike" cap="none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marR="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Provides the first large-scale benchmark evaluating RAG for code generation across multiple LLMs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Highlights that limited context windows force truncation of long retrieved code examples, reducing the impact of correct retrieval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marR="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Finds that RAG gains are highly dependent on the quality and precision of retrieved context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Lost in the Middle: How Language Models Use Long Contexts</a:t>
            </a:r>
            <a:endParaRPr sz="240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Introduces the lost-in-the-middle effect: LLMs ignore information buried in long inputs due to quadratic attention cost and memory budgets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Demonstrates that placing relevant information at the beginning or end of the prompt is significantly more effective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AllianceCoder: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00050" algn="just" rtl="0"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27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Shows that naive concatenation of raw retrieved code causes context bloat and distracts the model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00050" algn="just" rtl="0"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27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Uses reranking and summarization to produce more focused input for the generator</a:t>
            </a:r>
            <a:endParaRPr sz="2700" b="1" u="sng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>
            <a:extLst>
              <a:ext uri="{FF2B5EF4-FFF2-40B4-BE49-F238E27FC236}">
                <a16:creationId xmlns:a16="http://schemas.microsoft.com/office/drawing/2014/main" id="{71FAFC4C-78E4-20E3-D0F9-C292A39C5405}"/>
              </a:ext>
            </a:extLst>
          </p:cNvPr>
          <p:cNvSpPr txBox="1"/>
          <p:nvPr/>
        </p:nvSpPr>
        <p:spPr>
          <a:xfrm>
            <a:off x="11298000" y="10654225"/>
            <a:ext cx="12442800" cy="99885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(Experiment 1):</a:t>
            </a:r>
            <a:endParaRPr sz="24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Insert a 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cross-encoder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between BM25 retriever and code generator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scores “prefilter n” (top n) candidates and selects top k chunks as context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Selected chunks concatenate with problem description before decoding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three pretrained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on top of StarCoder2-7B.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-base /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-large: cross-encoder models optimized for reranking tasks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ms-marco-MiniLM-L-6-v2: a cross-encoder model trained on the MS Marco Passage Ranking task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 with various prefilter n and blend weights to study reranking configurations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Prefilter n controls BM25 candidates passed to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Blend weight interpolates BM25 score with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score during ranking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Context Summarization (Experiment 2):</a:t>
            </a:r>
            <a:endParaRPr sz="26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pre-trained summarization model compresses large code files into concise, 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structured representations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These summaries provide clean, canonicalized views of project components, enabling much more effective use of the available context window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Pretrained Summarization Model: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facebook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-base: fine-tuned for text generation (e.g. summarization)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facebook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-large-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cnn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fine-tuned on CNN Daily Mail, a large collection of text-summary pairs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google/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pegasus-xsum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pretrained on unlabeled text to perform abstractive summarization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lxyuan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distilbart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-finetuned-summarization: lightweight distilled model for faster, resource-efficient summarization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9" name="Google Shape;109;p1" title="Screenshot 2025-11-29 at 10.45.10 PM.png">
            <a:extLst>
              <a:ext uri="{FF2B5EF4-FFF2-40B4-BE49-F238E27FC236}">
                <a16:creationId xmlns:a16="http://schemas.microsoft.com/office/drawing/2014/main" id="{02850583-BCBA-0C10-6F7E-5F86296AA0B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901"/>
          <a:stretch/>
        </p:blipFill>
        <p:spPr>
          <a:xfrm>
            <a:off x="23996096" y="17259918"/>
            <a:ext cx="12572774" cy="355327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">
            <a:extLst>
              <a:ext uri="{FF2B5EF4-FFF2-40B4-BE49-F238E27FC236}">
                <a16:creationId xmlns:a16="http://schemas.microsoft.com/office/drawing/2014/main" id="{03923127-42DC-99AA-F212-DBE512F303F2}"/>
              </a:ext>
            </a:extLst>
          </p:cNvPr>
          <p:cNvSpPr txBox="1"/>
          <p:nvPr/>
        </p:nvSpPr>
        <p:spPr>
          <a:xfrm>
            <a:off x="24011328" y="10729838"/>
            <a:ext cx="12581400" cy="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Table1: Effect of different reranking models  on MBPP pass@1 accuracy</a:t>
            </a:r>
            <a:endParaRPr sz="25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">
            <a:extLst>
              <a:ext uri="{FF2B5EF4-FFF2-40B4-BE49-F238E27FC236}">
                <a16:creationId xmlns:a16="http://schemas.microsoft.com/office/drawing/2014/main" id="{9ADF44B9-0F16-D64B-FA33-43DA830107DD}"/>
              </a:ext>
            </a:extLst>
          </p:cNvPr>
          <p:cNvSpPr txBox="1"/>
          <p:nvPr/>
        </p:nvSpPr>
        <p:spPr>
          <a:xfrm>
            <a:off x="24037053" y="16656038"/>
            <a:ext cx="12581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Table2: Effect of different summarization models on MBPP pass@1 accuracy</a:t>
            </a:r>
            <a:endParaRPr sz="25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2" name="Google Shape;112;p1" title="Screenshot 2025-11-30 at 9.14.00 PM.png">
            <a:extLst>
              <a:ext uri="{FF2B5EF4-FFF2-40B4-BE49-F238E27FC236}">
                <a16:creationId xmlns:a16="http://schemas.microsoft.com/office/drawing/2014/main" id="{AE5AF153-AFC6-C62B-53C7-1F233B58FE2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r="1893"/>
          <a:stretch/>
        </p:blipFill>
        <p:spPr>
          <a:xfrm>
            <a:off x="24020141" y="11315088"/>
            <a:ext cx="12472200" cy="51851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98978708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2485</Words>
  <Application>Microsoft Macintosh PowerPoint</Application>
  <PresentationFormat>自訂</PresentationFormat>
  <Paragraphs>172</Paragraphs>
  <Slides>3</Slides>
  <Notes>3</Notes>
  <HiddenSlides>2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Arial</vt:lpstr>
      <vt:lpstr>Courier New</vt:lpstr>
      <vt:lpstr>Times New Roman</vt:lpstr>
      <vt:lpstr>Wingdings</vt:lpstr>
      <vt:lpstr>Default Design</vt:lpstr>
      <vt:lpstr>DPGrammar: Frontier Constrained Decoding for Diffusion Language Models</vt:lpstr>
      <vt:lpstr>DPGrammar: Frontier Constrained Decoding for Diffusion Language Models</vt:lpstr>
      <vt:lpstr>DPGrammar: Frontier Constrained Decoding for Diffusion Language Models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Judy Sun</dc:creator>
  <cp:lastModifiedBy>Buffett Liu</cp:lastModifiedBy>
  <cp:revision>36</cp:revision>
  <dcterms:created xsi:type="dcterms:W3CDTF">1998-03-03T17:19:34Z</dcterms:created>
  <dcterms:modified xsi:type="dcterms:W3CDTF">2026-04-20T03:55:29Z</dcterms:modified>
</cp:coreProperties>
</file>
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7432000" cx="38404800"/>
  <p:notesSz cx="32004000" cy="51103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840">
          <p15:clr>
            <a:srgbClr val="000000"/>
          </p15:clr>
        </p15:guide>
        <p15:guide id="2" pos="454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j9fBI24rZHjAv0Qpv/VRtt9kzG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840" orient="horz"/>
        <p:guide pos="45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22225"/>
            <a:ext cx="13868400" cy="2516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8135600" y="22225"/>
            <a:ext cx="13868400" cy="2516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" spcFirstLastPara="1" rIns="1905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11" type="ftr"/>
          </p:nvPr>
        </p:nvSpPr>
        <p:spPr>
          <a:xfrm>
            <a:off x="0" y="48563212"/>
            <a:ext cx="13868400" cy="2516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2" type="sldNum"/>
          </p:nvPr>
        </p:nvSpPr>
        <p:spPr>
          <a:xfrm>
            <a:off x="18135600" y="48563212"/>
            <a:ext cx="13868400" cy="2516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fld id="{00000000-1234-1234-1234-123412341234}" type="slidenum">
              <a:rPr b="0" i="1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 txBox="1"/>
          <p:nvPr>
            <p:ph idx="1" type="body"/>
          </p:nvPr>
        </p:nvSpPr>
        <p:spPr>
          <a:xfrm>
            <a:off x="4267200" y="24272875"/>
            <a:ext cx="23469600" cy="22996525"/>
          </a:xfrm>
          <a:prstGeom prst="rect">
            <a:avLst/>
          </a:prstGeom>
          <a:noFill/>
          <a:ln>
            <a:noFill/>
          </a:ln>
        </p:spPr>
        <p:txBody>
          <a:bodyPr anchorCtr="0" anchor="t" bIns="214300" lIns="430200" spcFirstLastPara="1" rIns="430200" wrap="square" tIns="2143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/>
          <p:nvPr>
            <p:ph idx="3" type="sldImg"/>
          </p:nvPr>
        </p:nvSpPr>
        <p:spPr>
          <a:xfrm>
            <a:off x="13601700" y="11698288"/>
            <a:ext cx="48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18135600" y="48563212"/>
            <a:ext cx="13868400" cy="2516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19050" spcFirstLastPara="1" rIns="1905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imes New Roman"/>
              <a:buNone/>
            </a:pPr>
            <a:fld id="{00000000-1234-1234-1234-123412341234}" type="slidenum">
              <a:rPr b="0" i="1" lang="en-US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601700" y="11698288"/>
            <a:ext cx="4800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4267200" y="24272875"/>
            <a:ext cx="23469600" cy="22996525"/>
          </a:xfrm>
          <a:prstGeom prst="rect">
            <a:avLst/>
          </a:prstGeom>
          <a:noFill/>
          <a:ln>
            <a:noFill/>
          </a:ln>
        </p:spPr>
        <p:txBody>
          <a:bodyPr anchorCtr="0" anchor="t" bIns="214300" lIns="430200" spcFirstLastPara="1" rIns="430200" wrap="square" tIns="2143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2880360" y="8521700"/>
            <a:ext cx="32644200" cy="58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5760720" y="15544800"/>
            <a:ext cx="26883300" cy="7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5300"/>
              <a:buFont typeface="Times New Roman"/>
              <a:buNone/>
              <a:defRPr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Times New Roman"/>
              <a:buNone/>
              <a:defRPr/>
            </a:lvl2pPr>
            <a:lvl3pPr lvl="2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100"/>
              <a:buFont typeface="Times New Roman"/>
              <a:buNone/>
              <a:defRPr/>
            </a:lvl3pPr>
            <a:lvl4pPr lvl="3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4pPr>
            <a:lvl5pPr lvl="4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5pPr>
            <a:lvl6pPr lvl="5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6pPr>
            <a:lvl7pPr lvl="6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7pPr>
            <a:lvl8pPr lvl="7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8pPr>
            <a:lvl9pPr lvl="8" algn="ctr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 rot="5400000">
            <a:off x="20471190" y="9330750"/>
            <a:ext cx="21945600" cy="816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 rot="5400000">
            <a:off x="4069050" y="1249650"/>
            <a:ext cx="21945600" cy="24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5pPr>
            <a:lvl6pPr indent="-3619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880360" y="2438400"/>
            <a:ext cx="326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 rot="5400000">
            <a:off x="10972740" y="-167700"/>
            <a:ext cx="16459200" cy="326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5pPr>
            <a:lvl6pPr indent="-3619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7527608" y="19202400"/>
            <a:ext cx="230430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" name="Google Shape;35;p6"/>
          <p:cNvSpPr/>
          <p:nvPr>
            <p:ph idx="2" type="pic"/>
          </p:nvPr>
        </p:nvSpPr>
        <p:spPr>
          <a:xfrm>
            <a:off x="7527608" y="2451100"/>
            <a:ext cx="23043000" cy="16459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7527608" y="21469350"/>
            <a:ext cx="23043000" cy="3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1920241" y="1092200"/>
            <a:ext cx="126351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15015210" y="1092200"/>
            <a:ext cx="21469500" cy="234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46355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Times New Roman"/>
              <a:buChar char="•"/>
              <a:defRPr sz="3000"/>
            </a:lvl1pPr>
            <a:lvl2pPr indent="-4318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–"/>
              <a:defRPr sz="2600"/>
            </a:lvl2pPr>
            <a:lvl3pPr indent="-4064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200"/>
            </a:lvl3pPr>
            <a:lvl4pPr indent="-3746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  <a:defRPr sz="1900"/>
            </a:lvl4pPr>
            <a:lvl5pPr indent="-3746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5pPr>
            <a:lvl6pPr indent="-3746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6pPr>
            <a:lvl7pPr indent="-3746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7pPr>
            <a:lvl8pPr indent="-3746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8pPr>
            <a:lvl9pPr indent="-3746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1920241" y="5740400"/>
            <a:ext cx="12635100" cy="187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1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sz="9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800"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2880360" y="2438400"/>
            <a:ext cx="326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1920240" y="1098550"/>
            <a:ext cx="3456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920241" y="6140450"/>
            <a:ext cx="16968600" cy="25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000" lIns="425975" spcFirstLastPara="1" rIns="425975" wrap="square" tIns="213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1" sz="2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17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1920241" y="8699500"/>
            <a:ext cx="16968600" cy="15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200"/>
            </a:lvl1pPr>
            <a:lvl2pPr indent="-3746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  <a:defRPr sz="1900"/>
            </a:lvl2pPr>
            <a:lvl3pPr indent="-3619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500"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9pPr>
          </a:lstStyle>
          <a:p/>
        </p:txBody>
      </p:sp>
      <p:sp>
        <p:nvSpPr>
          <p:cNvPr id="60" name="Google Shape;60;p10"/>
          <p:cNvSpPr txBox="1"/>
          <p:nvPr>
            <p:ph idx="3" type="body"/>
          </p:nvPr>
        </p:nvSpPr>
        <p:spPr>
          <a:xfrm>
            <a:off x="19509105" y="6140450"/>
            <a:ext cx="16975500" cy="25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000" lIns="425975" spcFirstLastPara="1" rIns="425975" wrap="square" tIns="213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1" sz="2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17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500"/>
            </a:lvl9pPr>
          </a:lstStyle>
          <a:p/>
        </p:txBody>
      </p:sp>
      <p:sp>
        <p:nvSpPr>
          <p:cNvPr id="61" name="Google Shape;61;p10"/>
          <p:cNvSpPr txBox="1"/>
          <p:nvPr>
            <p:ph idx="4" type="body"/>
          </p:nvPr>
        </p:nvSpPr>
        <p:spPr>
          <a:xfrm>
            <a:off x="19509105" y="8699500"/>
            <a:ext cx="16975500" cy="15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sz="2200"/>
            </a:lvl1pPr>
            <a:lvl2pPr indent="-3746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–"/>
              <a:defRPr sz="1900"/>
            </a:lvl2pPr>
            <a:lvl3pPr indent="-3619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3pPr>
            <a:lvl4pPr indent="-3492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500"/>
            </a:lvl4pPr>
            <a:lvl5pPr indent="-3492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5pPr>
            <a:lvl6pPr indent="-3492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6pPr>
            <a:lvl7pPr indent="-3492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7pPr>
            <a:lvl8pPr indent="-3492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8pPr>
            <a:lvl9pPr indent="-3492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5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2880360" y="2438400"/>
            <a:ext cx="326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2880360" y="7924800"/>
            <a:ext cx="162420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2600"/>
            </a:lvl1pPr>
            <a:lvl2pPr indent="-4064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200"/>
            </a:lvl2pPr>
            <a:lvl3pPr indent="-3746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3pPr>
            <a:lvl4pPr indent="-3619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1700"/>
            </a:lvl4pPr>
            <a:lvl5pPr indent="-3619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5pPr>
            <a:lvl6pPr indent="-3619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6pPr>
            <a:lvl7pPr indent="-3619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7pPr>
            <a:lvl8pPr indent="-3619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8pPr>
            <a:lvl9pPr indent="-3619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9pPr>
          </a:lstStyle>
          <a:p/>
        </p:txBody>
      </p:sp>
      <p:sp>
        <p:nvSpPr>
          <p:cNvPr id="68" name="Google Shape;68;p11"/>
          <p:cNvSpPr txBox="1"/>
          <p:nvPr>
            <p:ph idx="2" type="body"/>
          </p:nvPr>
        </p:nvSpPr>
        <p:spPr>
          <a:xfrm>
            <a:off x="19282410" y="7924800"/>
            <a:ext cx="162420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  <a:defRPr sz="2600"/>
            </a:lvl1pPr>
            <a:lvl2pPr indent="-4064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200"/>
            </a:lvl2pPr>
            <a:lvl3pPr indent="-37465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  <a:defRPr sz="1900"/>
            </a:lvl3pPr>
            <a:lvl4pPr indent="-3619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1700"/>
            </a:lvl4pPr>
            <a:lvl5pPr indent="-3619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5pPr>
            <a:lvl6pPr indent="-3619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6pPr>
            <a:lvl7pPr indent="-3619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7pPr>
            <a:lvl8pPr indent="-3619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8pPr>
            <a:lvl9pPr indent="-3619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17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3033713" y="17627600"/>
            <a:ext cx="32644200" cy="54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1" sz="37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033713" y="11626850"/>
            <a:ext cx="32644200" cy="6000900"/>
          </a:xfrm>
          <a:prstGeom prst="rect">
            <a:avLst/>
          </a:prstGeom>
          <a:noFill/>
          <a:ln>
            <a:noFill/>
          </a:ln>
        </p:spPr>
        <p:txBody>
          <a:bodyPr anchorCtr="0" anchor="b" bIns="213000" lIns="425975" spcFirstLastPara="1" rIns="425975" wrap="square" tIns="213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None/>
              <a:defRPr sz="19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sz="17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sz="15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sz="1300"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>
            <a:off x="2880360" y="2438400"/>
            <a:ext cx="326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2880360" y="7924800"/>
            <a:ext cx="326442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36195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indent="-3619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indent="-3619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indent="-3619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indent="-3619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5pPr>
            <a:lvl6pPr indent="-3619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indent="-3619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indent="-3619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indent="-3619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0" type="dt"/>
          </p:nvPr>
        </p:nvSpPr>
        <p:spPr>
          <a:xfrm>
            <a:off x="288036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1" type="ftr"/>
          </p:nvPr>
        </p:nvSpPr>
        <p:spPr>
          <a:xfrm>
            <a:off x="13121640" y="24993600"/>
            <a:ext cx="12161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7523440" y="24993600"/>
            <a:ext cx="8001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0"/>
              <a:buFont typeface="Times New Roman"/>
              <a:buNone/>
              <a:defRPr b="0" i="0" sz="5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2880360" y="2438400"/>
            <a:ext cx="32644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3000" lIns="425975" spcFirstLastPara="1" rIns="425975" wrap="square" tIns="213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20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2880360" y="7924800"/>
            <a:ext cx="32644200" cy="164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3000" lIns="425975" spcFirstLastPara="1" rIns="425975" wrap="square" tIns="213000">
            <a:noAutofit/>
          </a:bodyPr>
          <a:lstStyle>
            <a:lvl1pPr indent="-1200150" lvl="0" marL="457200" marR="0" rtl="0" algn="l">
              <a:lnSpc>
                <a:spcPct val="100000"/>
              </a:lnSpc>
              <a:spcBef>
                <a:spcPts val="3100"/>
              </a:spcBef>
              <a:spcAft>
                <a:spcPts val="0"/>
              </a:spcAft>
              <a:buClr>
                <a:schemeClr val="dk1"/>
              </a:buClr>
              <a:buSzPts val="15300"/>
              <a:buFont typeface="Times New Roman"/>
              <a:buChar char="•"/>
              <a:defRPr b="0" i="0" sz="15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1054100" lvl="1" marL="914400" marR="0" rtl="0" algn="l">
              <a:lnSpc>
                <a:spcPct val="100000"/>
              </a:lnSpc>
              <a:spcBef>
                <a:spcPts val="2600"/>
              </a:spcBef>
              <a:spcAft>
                <a:spcPts val="0"/>
              </a:spcAft>
              <a:buClr>
                <a:schemeClr val="dk1"/>
              </a:buClr>
              <a:buSzPts val="13000"/>
              <a:buFont typeface="Times New Roman"/>
              <a:buChar char="–"/>
              <a:defRPr b="0" i="0" sz="1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933450" lvl="2" marL="1371600" marR="0" rtl="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100"/>
              <a:buFont typeface="Times New Roman"/>
              <a:buChar char="•"/>
              <a:defRPr b="0" i="0" sz="1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819150" lvl="3" marL="18288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–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819150" lvl="4" marL="22860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•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819150" lvl="5" marL="27432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•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819150" lvl="6" marL="32004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•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819150" lvl="7" marL="36576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•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819150" lvl="8" marL="4114800" marR="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300"/>
              <a:buFont typeface="Times New Roman"/>
              <a:buChar char="•"/>
              <a:defRPr b="0" i="0" sz="9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3996096" y="9808688"/>
            <a:ext cx="13269300" cy="11195100"/>
          </a:xfrm>
          <a:prstGeom prst="rect">
            <a:avLst/>
          </a:prstGeom>
          <a:noFill/>
          <a:ln cap="flat" cmpd="sng" w="12700">
            <a:solidFill>
              <a:srgbClr val="274E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/>
          <p:nvPr>
            <p:ph type="ctrTitle"/>
          </p:nvPr>
        </p:nvSpPr>
        <p:spPr>
          <a:xfrm>
            <a:off x="0" y="0"/>
            <a:ext cx="38404800" cy="1866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170375" lIns="340775" spcFirstLastPara="1" rIns="340775" wrap="square" tIns="1703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8300"/>
              <a:buNone/>
            </a:pPr>
            <a:r>
              <a:rPr b="1" lang="en-US" sz="6700">
                <a:solidFill>
                  <a:schemeClr val="dk1"/>
                </a:solidFill>
              </a:rPr>
              <a:t>Context Manipulation for Code RAG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1286581" y="3054425"/>
            <a:ext cx="26004000" cy="6459300"/>
          </a:xfrm>
          <a:prstGeom prst="rect">
            <a:avLst/>
          </a:prstGeom>
          <a:noFill/>
          <a:ln cap="flat" cmpd="sng" w="12700">
            <a:solidFill>
              <a:srgbClr val="274E1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698240" y="1692276"/>
            <a:ext cx="30723900" cy="13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Angela Qu</a:t>
            </a:r>
            <a:r>
              <a:rPr b="1" i="0" lang="en-US" sz="3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3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Andrew Zhang</a:t>
            </a:r>
            <a:r>
              <a:rPr b="1" i="0" lang="en-US" sz="3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Yuling Wang</a:t>
            </a:r>
            <a:endParaRPr b="1" i="1" sz="37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1" lang="en-US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Carnegie Mellon University, </a:t>
            </a:r>
            <a:r>
              <a:rPr i="1" lang="en-US" sz="3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Language Technologies Institute</a:t>
            </a:r>
            <a:endParaRPr i="1" sz="3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970867" y="7010400"/>
            <a:ext cx="2228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3427610" y="6388888"/>
            <a:ext cx="2240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11298013" y="9802225"/>
            <a:ext cx="124428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Method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1297985" y="21682900"/>
            <a:ext cx="12442800" cy="4941900"/>
          </a:xfrm>
          <a:prstGeom prst="rect">
            <a:avLst/>
          </a:prstGeom>
          <a:noFill/>
          <a:ln cap="flat" cmpd="sng" w="12700">
            <a:solidFill>
              <a:srgbClr val="005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300" lIns="84625" spcFirstLastPara="1" rIns="84625" wrap="square" tIns="423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Reranker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2700" u="sng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bge-reranker-large yields MBPP gains; weaker rerankers consistently underperform the no-rerank baseline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prefilter n beyond 20 degrades pass@1, likely due to noisy candidate overload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Blend weights have negligible effect once n is small and the reranker is strong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Context Summarization:</a:t>
            </a:r>
            <a:endParaRPr sz="2500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Applying summarization didn’t improve StarCoder2-7B performance on MBPP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Summarization succeeded at reducing input size but sacrificed semantic fidelity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Text-trained summarizers strip away critical program semantics, making them poorly suited to preserve programming logic or structure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text-style summarization does not benefit RAG-based code generation</a:t>
            </a:r>
            <a:endParaRPr sz="2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3996096" y="21181525"/>
            <a:ext cx="132693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Wor</a:t>
            </a:r>
            <a:r>
              <a:rPr b="1" lang="en-US" sz="3300">
                <a:solidFill>
                  <a:schemeClr val="dk1"/>
                </a:solidFill>
              </a:rPr>
              <a:t>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1297999" y="20830888"/>
            <a:ext cx="124428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Results Analysis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1286590" y="3054426"/>
            <a:ext cx="260040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chemeClr val="dk1"/>
                </a:solidFill>
              </a:rPr>
              <a:t>Pipeline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3994495" y="9802213"/>
            <a:ext cx="132693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Experimental Results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52062" y="384969"/>
            <a:ext cx="3263878" cy="1273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42941" y="415243"/>
            <a:ext cx="1334783" cy="13703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 txBox="1"/>
          <p:nvPr/>
        </p:nvSpPr>
        <p:spPr>
          <a:xfrm>
            <a:off x="1013460" y="3052275"/>
            <a:ext cx="100173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3996075" y="22033525"/>
            <a:ext cx="13269300" cy="4591200"/>
          </a:xfrm>
          <a:prstGeom prst="rect">
            <a:avLst/>
          </a:prstGeom>
          <a:noFill/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Advanced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Summarization Strategies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hybrid approaches that combine natural-language abstraction with symbolic representations to maintain logical fidelity and reduce loss of critical implementation details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Code Based Reranking:</a:t>
            </a:r>
            <a:endParaRPr b="1" i="0" sz="2700" u="sng" cap="none" strike="noStrike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learned or supervised reranking models trained on code-specific relevance signals, such as API usage similarity, dependency paths, or semantic proximity between functions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erarchical Compression for Repository-Scale Input:</a:t>
            </a:r>
            <a:endParaRPr b="1" sz="2700" u="sng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multi-level compression that preserves semantic structure rather than raw text, allowing efficient injection of repository-level information into long contexts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025404" y="17512575"/>
            <a:ext cx="10017300" cy="8520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70375" lIns="340775" spcFirstLastPara="1" rIns="340775" wrap="square" tIns="1703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Related Work</a:t>
            </a:r>
            <a:r>
              <a:rPr b="1" lang="en-US" sz="3300">
                <a:solidFill>
                  <a:schemeClr val="dk1"/>
                </a:solidFill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013460" y="3909675"/>
            <a:ext cx="10017300" cy="13350300"/>
          </a:xfrm>
          <a:prstGeom prst="rect">
            <a:avLst/>
          </a:prstGeom>
          <a:noFill/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Problem Statement: </a:t>
            </a:r>
            <a:endParaRPr b="1" i="0" sz="2700" u="sng" cap="none" strike="noStrike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can enhance code generation by incorporating external code snippets and documentation, but its effectiveness is limited by two key challenges: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 retrievers often fail to surface highly relevant contexts, and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 restricted context windows force useful information to be truncated or ignored. Expanding the window increases latency and memory cost, resulting in inconsistent and modest performance gains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work directly addresses these two bottlenecks by improving the relevance, compression, and alignment of retrieved contexts for efficient code generation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Challenges: </a:t>
            </a:r>
            <a:endParaRPr b="1" i="0" sz="2700" u="sng" cap="none" strike="noStrike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Irrelevant Retrieval</a:t>
            </a:r>
            <a:r>
              <a:rPr b="1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1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contexts often include irrelevant, outdated, or weakly related code snippets, reducing their usefulness for generation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Window Limits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context windows force truncation, causing loss of important code or documentation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 New Roman"/>
              <a:buChar char="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Trade-off Between Context and Efficiency</a:t>
            </a:r>
            <a:r>
              <a:rPr b="0" i="0" lang="en-US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Expanding the context window raises latency, memory usage, and overall system cost, especially problematic for large code models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solution: </a:t>
            </a:r>
            <a:endParaRPr b="0" i="0" sz="2400" u="none" cap="none" strike="noStrike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533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★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Context Relevance Through Retrieval Reranking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Reorder and refine retrieved candidates to surface the most semantically aligned and task-appropriate code snippets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off-target retrieval by filtering weak related contexts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5450" lvl="0" marL="533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★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Summarized Retrieval to Overcome Context-Length Limits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Condense long files into compact, task-focused summaries that preserve essential logic and constraints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Fit more meaningful information within strict context windows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983975" y="18364575"/>
            <a:ext cx="10058700" cy="8260200"/>
          </a:xfrm>
          <a:prstGeom prst="rect">
            <a:avLst/>
          </a:prstGeom>
          <a:noFill/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CodeRAG-Bench: </a:t>
            </a:r>
            <a:endParaRPr b="0" i="0" sz="2400" u="none" cap="none" strike="noStrike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the first large-scale benchmark evaluating RAG for code generation across multiple LLMs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that limited context windows force truncation of long retrieved code examples, reducing the impact of correct retrieval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191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that RAG gains are highly dependent on the quality and precision of retrieved context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sng" cap="none" strike="noStrike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Lost in the Middle: How Language Models Use Long Contexts</a:t>
            </a:r>
            <a:endParaRPr sz="2400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Introduces the lost-in-the-middle effect: LLMs ignore information buried in long inputs due to quadratic attention cost and memory budgets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Demonstrates that placing relevant information at the beginning or end of the prompt is significantly more effective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AllianceCoder:</a:t>
            </a:r>
            <a:endParaRPr b="1" sz="2700" u="sng">
              <a:solidFill>
                <a:srgbClr val="274E13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7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that naive concatenation of raw retrieved code causes context bloat and distracts the model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Clr>
                <a:srgbClr val="274E13"/>
              </a:buClr>
              <a:buSzPts val="2700"/>
              <a:buFont typeface="Times New Roman"/>
              <a:buChar char="-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Uses reranking and summarization to produce more focused input for the generator</a:t>
            </a:r>
            <a:endParaRPr b="1" sz="2700" u="sng">
              <a:solidFill>
                <a:srgbClr val="274E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11298000" y="10654225"/>
            <a:ext cx="12442800" cy="9988500"/>
          </a:xfrm>
          <a:prstGeom prst="rect">
            <a:avLst/>
          </a:prstGeom>
          <a:noFill/>
          <a:ln cap="flat" cmpd="sng" w="9525">
            <a:solidFill>
              <a:srgbClr val="005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Reranker (Experiment 1):</a:t>
            </a:r>
            <a:endParaRPr sz="2400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nsert a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cross-encoder reranker between BM25 retriever and code generator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Reranker scores “prefilter n” (top n) candidates and selects top k chunks as context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chunks concatenate with problem description before decoding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three pretrained rerankers on top of StarCoder2-7B.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bge-reranker-base / bge-reranker-large: cross-encoder models optimized for reranking tasks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ms-marco-MiniLM-L-6-v2: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cross-encoder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trained 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 Marco Passage Ranking task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Experiment with various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prefilter n and blend weights to study reranking configurations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Prefilter n controls BM25 candidates passed to reranker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Blend weight interpolates BM25 score with reranker score during ranking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 u="sng">
                <a:solidFill>
                  <a:srgbClr val="274E13"/>
                </a:solidFill>
                <a:highlight>
                  <a:srgbClr val="D9EAD3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Context Summarization (Experiment 2):</a:t>
            </a:r>
            <a:endParaRPr sz="2600">
              <a:solidFill>
                <a:schemeClr val="dk1"/>
              </a:solidFill>
              <a:highlight>
                <a:srgbClr val="D9EAD3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pre-trained summarization model compresses large code files into concise,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structured representations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These summaries provide clean, canonicalized views of project components, enabling much more effective use of the available context window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●"/>
            </a:pP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Pretrained Summarization Model: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facebook/bart-base: fine-tuned for text generation (e.g. summarization)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facebook/bart-large-cnn: fine-tuned on CNN Daily Mail, a large collection of text-summary pairs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google/pegasus-xsum: pretrained on unlabeled text to perform abstractive summarization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○"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lxyuan/distilbart-finetuned-summarization: lightweight distilled model for faster, resource-efficient summarization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1" title="Screenshot 2025-11-29 at 10.45.10 PM.png"/>
          <p:cNvPicPr preferRelativeResize="0"/>
          <p:nvPr/>
        </p:nvPicPr>
        <p:blipFill rotWithShape="1">
          <a:blip r:embed="rId5">
            <a:alphaModFix/>
          </a:blip>
          <a:srcRect b="0" l="0" r="901" t="0"/>
          <a:stretch/>
        </p:blipFill>
        <p:spPr>
          <a:xfrm>
            <a:off x="23996096" y="17259918"/>
            <a:ext cx="12572774" cy="355327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"/>
          <p:cNvSpPr txBox="1"/>
          <p:nvPr/>
        </p:nvSpPr>
        <p:spPr>
          <a:xfrm>
            <a:off x="24011328" y="10729838"/>
            <a:ext cx="12581400" cy="8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Table1: Effect of different reranking models  on MBPP pass@1 accuracy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24037053" y="16656038"/>
            <a:ext cx="12581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84625" lIns="84625" spcFirstLastPara="1" rIns="84625" wrap="square" tIns="846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Table2: </a:t>
            </a:r>
            <a:r>
              <a:rPr b="1" lang="en-US" sz="2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Effect of different summarization models on MBPP pass@1 accuracy</a:t>
            </a:r>
            <a:endParaRPr sz="2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1" title="Screenshot 2025-11-30 at 9.14.00 PM.png"/>
          <p:cNvPicPr preferRelativeResize="0"/>
          <p:nvPr/>
        </p:nvPicPr>
        <p:blipFill rotWithShape="1">
          <a:blip r:embed="rId6">
            <a:alphaModFix/>
          </a:blip>
          <a:srcRect b="0" l="0" r="1893" t="0"/>
          <a:stretch/>
        </p:blipFill>
        <p:spPr>
          <a:xfrm>
            <a:off x="24020141" y="11315088"/>
            <a:ext cx="12472200" cy="51851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" title="R (4).png"/>
          <p:cNvPicPr preferRelativeResize="0"/>
          <p:nvPr/>
        </p:nvPicPr>
        <p:blipFill rotWithShape="1">
          <a:blip r:embed="rId7">
            <a:alphaModFix/>
          </a:blip>
          <a:srcRect b="32804" l="7222" r="7707" t="33580"/>
          <a:stretch/>
        </p:blipFill>
        <p:spPr>
          <a:xfrm>
            <a:off x="11288629" y="3995943"/>
            <a:ext cx="25675022" cy="543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1998-03-03T17:19:34Z</dcterms:created>
  <dc:creator>Judy Sun</dc:creator>
</cp:coreProperties>
</file>
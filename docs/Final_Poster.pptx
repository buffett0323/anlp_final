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38404800" cy="27432000"/>
  <p:notesSz cx="32004000" cy="511032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5840">
          <p15:clr>
            <a:srgbClr val="000000"/>
          </p15:clr>
        </p15:guide>
        <p15:guide id="2" pos="454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7" roundtripDataSignature="AMtx7mj9fBI24rZHjAv0Qpv/VRtt9kzGv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27"/>
    <p:restoredTop sz="94699"/>
  </p:normalViewPr>
  <p:slideViewPr>
    <p:cSldViewPr snapToGrid="0">
      <p:cViewPr>
        <p:scale>
          <a:sx n="80" d="100"/>
          <a:sy n="80" d="100"/>
        </p:scale>
        <p:origin x="-352" y="-952"/>
      </p:cViewPr>
      <p:guideLst>
        <p:guide orient="horz" pos="15840"/>
        <p:guide pos="45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customschemas.google.com/relationships/presentationmetadata" Target="meta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ableStyles" Target="tableStyles.xml"/><Relationship Id="rId10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22225"/>
            <a:ext cx="13868400" cy="251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0" rIns="1905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18135600" y="22225"/>
            <a:ext cx="13868400" cy="251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0" rIns="1905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5" name="Google Shape;5;n"/>
          <p:cNvSpPr txBox="1">
            <a:spLocks noGrp="1"/>
          </p:cNvSpPr>
          <p:nvPr>
            <p:ph type="ftr" idx="11"/>
          </p:nvPr>
        </p:nvSpPr>
        <p:spPr>
          <a:xfrm>
            <a:off x="0" y="48563212"/>
            <a:ext cx="13868400" cy="251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0" rIns="19050" bIns="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6" name="Google Shape;6;n"/>
          <p:cNvSpPr txBox="1">
            <a:spLocks noGrp="1"/>
          </p:cNvSpPr>
          <p:nvPr>
            <p:ph type="sldNum" idx="12"/>
          </p:nvPr>
        </p:nvSpPr>
        <p:spPr>
          <a:xfrm>
            <a:off x="18135600" y="48563212"/>
            <a:ext cx="13868400" cy="251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0" rIns="19050" bIns="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imes New Roman"/>
              <a:buNone/>
            </a:pPr>
            <a:fld id="{00000000-1234-1234-1234-123412341234}" type="slidenum">
              <a:rPr lang="en-US" sz="1000" b="0" i="1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n"/>
          <p:cNvSpPr txBox="1">
            <a:spLocks noGrp="1"/>
          </p:cNvSpPr>
          <p:nvPr>
            <p:ph type="body" idx="1"/>
          </p:nvPr>
        </p:nvSpPr>
        <p:spPr>
          <a:xfrm>
            <a:off x="4267200" y="24272875"/>
            <a:ext cx="23469600" cy="22996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0200" tIns="214300" rIns="430200" bIns="2143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>
            <a:spLocks noGrp="1" noRot="1" noChangeAspect="1"/>
          </p:cNvSpPr>
          <p:nvPr>
            <p:ph type="sldImg" idx="3"/>
          </p:nvPr>
        </p:nvSpPr>
        <p:spPr>
          <a:xfrm>
            <a:off x="13601700" y="11698288"/>
            <a:ext cx="48006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/>
        </p:nvSpPr>
        <p:spPr>
          <a:xfrm>
            <a:off x="18135600" y="48563212"/>
            <a:ext cx="13868400" cy="251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0" rIns="19050" bIns="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imes New Roman"/>
              <a:buNone/>
            </a:pPr>
            <a:fld id="{00000000-1234-1234-1234-123412341234}" type="slidenum">
              <a:rPr lang="en-US" sz="1000" b="0" i="1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</a:t>
            </a:fld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601700" y="11698288"/>
            <a:ext cx="48006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4267200" y="24272875"/>
            <a:ext cx="23469600" cy="22996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0200" tIns="214300" rIns="430200" bIns="2143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EA55CBF5-9B48-4A84-1DB1-3B48B76B4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>
            <a:extLst>
              <a:ext uri="{FF2B5EF4-FFF2-40B4-BE49-F238E27FC236}">
                <a16:creationId xmlns:a16="http://schemas.microsoft.com/office/drawing/2014/main" id="{98E7B812-71FF-0756-0706-46C8E7D36FA2}"/>
              </a:ext>
            </a:extLst>
          </p:cNvPr>
          <p:cNvSpPr txBox="1"/>
          <p:nvPr/>
        </p:nvSpPr>
        <p:spPr>
          <a:xfrm>
            <a:off x="18135600" y="48563212"/>
            <a:ext cx="13868400" cy="251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0" rIns="19050" bIns="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imes New Roman"/>
              <a:buNone/>
            </a:pPr>
            <a:fld id="{00000000-1234-1234-1234-123412341234}" type="slidenum">
              <a:rPr lang="en-US" sz="1000" b="0" i="1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:notes">
            <a:extLst>
              <a:ext uri="{FF2B5EF4-FFF2-40B4-BE49-F238E27FC236}">
                <a16:creationId xmlns:a16="http://schemas.microsoft.com/office/drawing/2014/main" id="{2BB231BC-C620-F486-0863-D324FA16E8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601700" y="11698288"/>
            <a:ext cx="48006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" name="Google Shape;87;p1:notes">
            <a:extLst>
              <a:ext uri="{FF2B5EF4-FFF2-40B4-BE49-F238E27FC236}">
                <a16:creationId xmlns:a16="http://schemas.microsoft.com/office/drawing/2014/main" id="{2B37E2FD-A5E9-2ED4-554D-68B95A5D3B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267200" y="24272875"/>
            <a:ext cx="23469600" cy="22996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0200" tIns="214300" rIns="430200" bIns="2143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149789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2880360" y="8521700"/>
            <a:ext cx="32644200" cy="58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5760720" y="15544800"/>
            <a:ext cx="26883300" cy="701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5300"/>
              <a:buFont typeface="Times New Roman"/>
              <a:buNone/>
              <a:defRPr/>
            </a:lvl1pPr>
            <a:lvl2pPr lvl="1" algn="ctr"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3000"/>
              <a:buFont typeface="Times New Roman"/>
              <a:buNone/>
              <a:defRPr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100"/>
              <a:buFont typeface="Times New Roman"/>
              <a:buNone/>
              <a:defRPr/>
            </a:lvl3pPr>
            <a:lvl4pPr lvl="3" algn="ctr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None/>
              <a:defRPr/>
            </a:lvl4pPr>
            <a:lvl5pPr lvl="4" algn="ctr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None/>
              <a:defRPr/>
            </a:lvl5pPr>
            <a:lvl6pPr lvl="5" algn="ctr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None/>
              <a:defRPr/>
            </a:lvl6pPr>
            <a:lvl7pPr lvl="6" algn="ctr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None/>
              <a:defRPr/>
            </a:lvl7pPr>
            <a:lvl8pPr lvl="7" algn="ctr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None/>
              <a:defRPr/>
            </a:lvl8pPr>
            <a:lvl9pPr lvl="8" algn="ctr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 rot="5400000">
            <a:off x="20471190" y="9330750"/>
            <a:ext cx="21945600" cy="816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 rot="5400000">
            <a:off x="4069050" y="1249650"/>
            <a:ext cx="21945600" cy="24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/>
            </a:lvl2pPr>
            <a:lvl3pPr marL="1371600" lvl="2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3pPr>
            <a:lvl4pPr marL="1828800" lvl="3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/>
            </a:lvl4pPr>
            <a:lvl5pPr marL="2286000" lvl="4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5pPr>
            <a:lvl6pPr marL="2743200" lvl="5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6pPr>
            <a:lvl7pPr marL="3200400" lvl="6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7pPr>
            <a:lvl8pPr marL="3657600" lvl="7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8pPr>
            <a:lvl9pPr marL="4114800" lvl="8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2880360" y="2438400"/>
            <a:ext cx="32644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 rot="5400000">
            <a:off x="10972740" y="-167700"/>
            <a:ext cx="16459200" cy="3264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/>
            </a:lvl2pPr>
            <a:lvl3pPr marL="1371600" lvl="2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3pPr>
            <a:lvl4pPr marL="1828800" lvl="3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/>
            </a:lvl4pPr>
            <a:lvl5pPr marL="2286000" lvl="4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5pPr>
            <a:lvl6pPr marL="2743200" lvl="5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6pPr>
            <a:lvl7pPr marL="3200400" lvl="6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7pPr>
            <a:lvl8pPr marL="3657600" lvl="7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8pPr>
            <a:lvl9pPr marL="4114800" lvl="8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527608" y="19202400"/>
            <a:ext cx="23043000" cy="22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9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>
            <a:spLocks noGrp="1"/>
          </p:cNvSpPr>
          <p:nvPr>
            <p:ph type="pic" idx="2"/>
          </p:nvPr>
        </p:nvSpPr>
        <p:spPr>
          <a:xfrm>
            <a:off x="7527608" y="2451100"/>
            <a:ext cx="23043000" cy="16459200"/>
          </a:xfrm>
          <a:prstGeom prst="rect">
            <a:avLst/>
          </a:prstGeom>
          <a:noFill/>
          <a:ln>
            <a:noFill/>
          </a:ln>
        </p:spPr>
      </p:sp>
      <p:sp>
        <p:nvSpPr>
          <p:cNvPr id="36" name="Google Shape;36;p6"/>
          <p:cNvSpPr txBox="1">
            <a:spLocks noGrp="1"/>
          </p:cNvSpPr>
          <p:nvPr>
            <p:ph type="body" idx="1"/>
          </p:nvPr>
        </p:nvSpPr>
        <p:spPr>
          <a:xfrm>
            <a:off x="7527608" y="21469350"/>
            <a:ext cx="23043000" cy="3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None/>
              <a:defRPr sz="900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920241" y="1092200"/>
            <a:ext cx="12635100" cy="46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9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5015210" y="1092200"/>
            <a:ext cx="21469500" cy="234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46355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Times New Roman"/>
              <a:buChar char="•"/>
              <a:defRPr sz="3000"/>
            </a:lvl1pPr>
            <a:lvl2pPr marL="914400" lvl="1" indent="-431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 New Roman"/>
              <a:buChar char="–"/>
              <a:defRPr sz="2600"/>
            </a:lvl2pPr>
            <a:lvl3pPr marL="1371600" lvl="2" indent="-406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•"/>
              <a:defRPr sz="2200"/>
            </a:lvl3pPr>
            <a:lvl4pPr marL="1828800" lvl="3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–"/>
              <a:defRPr sz="1900"/>
            </a:lvl4pPr>
            <a:lvl5pPr marL="2286000" lvl="4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  <a:defRPr sz="1900"/>
            </a:lvl5pPr>
            <a:lvl6pPr marL="2743200" lvl="5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  <a:defRPr sz="1900"/>
            </a:lvl6pPr>
            <a:lvl7pPr marL="3200400" lvl="6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  <a:defRPr sz="1900"/>
            </a:lvl7pPr>
            <a:lvl8pPr marL="3657600" lvl="7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  <a:defRPr sz="1900"/>
            </a:lvl8pPr>
            <a:lvl9pPr marL="4114800" lvl="8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  <a:defRPr sz="1900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920241" y="5740400"/>
            <a:ext cx="12635100" cy="187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None/>
              <a:defRPr sz="900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2880360" y="2438400"/>
            <a:ext cx="32644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>
            <a:spLocks noGrp="1"/>
          </p:cNvSpPr>
          <p:nvPr>
            <p:ph type="title"/>
          </p:nvPr>
        </p:nvSpPr>
        <p:spPr>
          <a:xfrm>
            <a:off x="1920240" y="1098550"/>
            <a:ext cx="34564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1920241" y="6140450"/>
            <a:ext cx="16968600" cy="25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  <a:defRPr sz="22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None/>
              <a:defRPr sz="1700" b="1"/>
            </a:lvl3pPr>
            <a:lvl4pPr marL="1828800" lvl="3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4pPr>
            <a:lvl5pPr marL="2286000" lvl="4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5pPr>
            <a:lvl6pPr marL="2743200" lvl="5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6pPr>
            <a:lvl7pPr marL="3200400" lvl="6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7pPr>
            <a:lvl8pPr marL="3657600" lvl="7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8pPr>
            <a:lvl9pPr marL="4114800" lvl="8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body" idx="2"/>
          </p:nvPr>
        </p:nvSpPr>
        <p:spPr>
          <a:xfrm>
            <a:off x="1920241" y="8699500"/>
            <a:ext cx="16968600" cy="158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•"/>
              <a:defRPr sz="2200"/>
            </a:lvl1pPr>
            <a:lvl2pPr marL="914400" lvl="1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–"/>
              <a:defRPr sz="1900"/>
            </a:lvl2pPr>
            <a:lvl3pPr marL="1371600" lvl="2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3pPr>
            <a:lvl4pPr marL="1828800" lvl="3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–"/>
              <a:defRPr sz="1500"/>
            </a:lvl4pPr>
            <a:lvl5pPr marL="2286000" lvl="4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5pPr>
            <a:lvl6pPr marL="2743200" lvl="5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6pPr>
            <a:lvl7pPr marL="3200400" lvl="6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7pPr>
            <a:lvl8pPr marL="3657600" lvl="7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8pPr>
            <a:lvl9pPr marL="4114800" lvl="8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3"/>
          </p:nvPr>
        </p:nvSpPr>
        <p:spPr>
          <a:xfrm>
            <a:off x="19509105" y="6140450"/>
            <a:ext cx="16975500" cy="25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  <a:defRPr sz="22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None/>
              <a:defRPr sz="1700" b="1"/>
            </a:lvl3pPr>
            <a:lvl4pPr marL="1828800" lvl="3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4pPr>
            <a:lvl5pPr marL="2286000" lvl="4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5pPr>
            <a:lvl6pPr marL="2743200" lvl="5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6pPr>
            <a:lvl7pPr marL="3200400" lvl="6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7pPr>
            <a:lvl8pPr marL="3657600" lvl="7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8pPr>
            <a:lvl9pPr marL="4114800" lvl="8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4"/>
          </p:nvPr>
        </p:nvSpPr>
        <p:spPr>
          <a:xfrm>
            <a:off x="19509105" y="8699500"/>
            <a:ext cx="16975500" cy="158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•"/>
              <a:defRPr sz="2200"/>
            </a:lvl1pPr>
            <a:lvl2pPr marL="914400" lvl="1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–"/>
              <a:defRPr sz="1900"/>
            </a:lvl2pPr>
            <a:lvl3pPr marL="1371600" lvl="2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3pPr>
            <a:lvl4pPr marL="1828800" lvl="3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–"/>
              <a:defRPr sz="1500"/>
            </a:lvl4pPr>
            <a:lvl5pPr marL="2286000" lvl="4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5pPr>
            <a:lvl6pPr marL="2743200" lvl="5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6pPr>
            <a:lvl7pPr marL="3200400" lvl="6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7pPr>
            <a:lvl8pPr marL="3657600" lvl="7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8pPr>
            <a:lvl9pPr marL="4114800" lvl="8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2880360" y="2438400"/>
            <a:ext cx="32644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body" idx="1"/>
          </p:nvPr>
        </p:nvSpPr>
        <p:spPr>
          <a:xfrm>
            <a:off x="2880360" y="7924800"/>
            <a:ext cx="16242000" cy="164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 New Roman"/>
              <a:buChar char="•"/>
              <a:defRPr sz="2600"/>
            </a:lvl1pPr>
            <a:lvl2pPr marL="914400" lvl="1" indent="-406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–"/>
              <a:defRPr sz="2200"/>
            </a:lvl2pPr>
            <a:lvl3pPr marL="1371600" lvl="2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  <a:defRPr sz="1900"/>
            </a:lvl3pPr>
            <a:lvl4pPr marL="1828800" lvl="3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–"/>
              <a:defRPr sz="1700"/>
            </a:lvl4pPr>
            <a:lvl5pPr marL="2286000" lvl="4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5pPr>
            <a:lvl6pPr marL="2743200" lvl="5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6pPr>
            <a:lvl7pPr marL="3200400" lvl="6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7pPr>
            <a:lvl8pPr marL="3657600" lvl="7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8pPr>
            <a:lvl9pPr marL="4114800" lvl="8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9pPr>
          </a:lstStyle>
          <a:p>
            <a:endParaRPr/>
          </a:p>
        </p:txBody>
      </p:sp>
      <p:sp>
        <p:nvSpPr>
          <p:cNvPr id="68" name="Google Shape;68;p11"/>
          <p:cNvSpPr txBox="1">
            <a:spLocks noGrp="1"/>
          </p:cNvSpPr>
          <p:nvPr>
            <p:ph type="body" idx="2"/>
          </p:nvPr>
        </p:nvSpPr>
        <p:spPr>
          <a:xfrm>
            <a:off x="19282410" y="7924800"/>
            <a:ext cx="16242000" cy="164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 New Roman"/>
              <a:buChar char="•"/>
              <a:defRPr sz="2600"/>
            </a:lvl1pPr>
            <a:lvl2pPr marL="914400" lvl="1" indent="-406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–"/>
              <a:defRPr sz="2200"/>
            </a:lvl2pPr>
            <a:lvl3pPr marL="1371600" lvl="2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  <a:defRPr sz="1900"/>
            </a:lvl3pPr>
            <a:lvl4pPr marL="1828800" lvl="3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–"/>
              <a:defRPr sz="1700"/>
            </a:lvl4pPr>
            <a:lvl5pPr marL="2286000" lvl="4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5pPr>
            <a:lvl6pPr marL="2743200" lvl="5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6pPr>
            <a:lvl7pPr marL="3200400" lvl="6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7pPr>
            <a:lvl8pPr marL="3657600" lvl="7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8pPr>
            <a:lvl9pPr marL="4114800" lvl="8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3033713" y="17627600"/>
            <a:ext cx="32644200" cy="544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3700" b="1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>
            <a:off x="3033713" y="11626850"/>
            <a:ext cx="32644200" cy="60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None/>
              <a:defRPr sz="1900"/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None/>
              <a:defRPr sz="1700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/>
            </a:lvl3pPr>
            <a:lvl4pPr marL="1828800" lvl="3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4pPr>
            <a:lvl5pPr marL="2286000" lvl="4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5pPr>
            <a:lvl6pPr marL="2743200" lvl="5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6pPr>
            <a:lvl7pPr marL="3200400" lvl="6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7pPr>
            <a:lvl8pPr marL="3657600" lvl="7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8pPr>
            <a:lvl9pPr marL="4114800" lvl="8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>
            <a:off x="2880360" y="2438400"/>
            <a:ext cx="32644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>
            <a:off x="2880360" y="7924800"/>
            <a:ext cx="32644200" cy="164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/>
            </a:lvl2pPr>
            <a:lvl3pPr marL="1371600" lvl="2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3pPr>
            <a:lvl4pPr marL="1828800" lvl="3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/>
            </a:lvl4pPr>
            <a:lvl5pPr marL="2286000" lvl="4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5pPr>
            <a:lvl6pPr marL="2743200" lvl="5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6pPr>
            <a:lvl7pPr marL="3200400" lvl="6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7pPr>
            <a:lvl8pPr marL="3657600" lvl="7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8pPr>
            <a:lvl9pPr marL="4114800" lvl="8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 txBox="1">
            <a:spLocks noGrp="1"/>
          </p:cNvSpPr>
          <p:nvPr>
            <p:ph type="title"/>
          </p:nvPr>
        </p:nvSpPr>
        <p:spPr>
          <a:xfrm>
            <a:off x="2880360" y="2438400"/>
            <a:ext cx="32644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body" idx="1"/>
          </p:nvPr>
        </p:nvSpPr>
        <p:spPr>
          <a:xfrm>
            <a:off x="2880360" y="7924800"/>
            <a:ext cx="32644200" cy="164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marR="0" lvl="0" indent="-1200150" algn="l" rtl="0">
              <a:lnSpc>
                <a:spcPct val="100000"/>
              </a:lnSpc>
              <a:spcBef>
                <a:spcPts val="3100"/>
              </a:spcBef>
              <a:spcAft>
                <a:spcPts val="0"/>
              </a:spcAft>
              <a:buClr>
                <a:schemeClr val="dk1"/>
              </a:buClr>
              <a:buSzPts val="15300"/>
              <a:buFont typeface="Times New Roman"/>
              <a:buChar char="•"/>
              <a:defRPr sz="153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1054100" algn="l" rtl="0">
              <a:lnSpc>
                <a:spcPct val="100000"/>
              </a:lnSpc>
              <a:spcBef>
                <a:spcPts val="2600"/>
              </a:spcBef>
              <a:spcAft>
                <a:spcPts val="0"/>
              </a:spcAft>
              <a:buClr>
                <a:schemeClr val="dk1"/>
              </a:buClr>
              <a:buSzPts val="13000"/>
              <a:buFont typeface="Times New Roman"/>
              <a:buChar char="–"/>
              <a:defRPr sz="1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93345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11100"/>
              <a:buFont typeface="Times New Roman"/>
              <a:buChar char="•"/>
              <a:defRPr sz="11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819150" algn="l" rtl="0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Char char="–"/>
              <a:defRPr sz="93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819150" algn="l" rtl="0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Char char="•"/>
              <a:defRPr sz="93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819150" algn="l" rtl="0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Char char="•"/>
              <a:defRPr sz="93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819150" algn="l" rtl="0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Char char="•"/>
              <a:defRPr sz="93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819150" algn="l" rtl="0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Char char="•"/>
              <a:defRPr sz="93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819150" algn="l" rtl="0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Char char="•"/>
              <a:defRPr sz="93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圖片 22">
            <a:extLst>
              <a:ext uri="{FF2B5EF4-FFF2-40B4-BE49-F238E27FC236}">
                <a16:creationId xmlns:a16="http://schemas.microsoft.com/office/drawing/2014/main" id="{75FFED0B-3372-7852-0021-1F430DD832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76679" y="14309630"/>
            <a:ext cx="11559984" cy="4690723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A1FB1969-C3CE-8EC7-007A-0E7432FBD7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460" y="21650288"/>
            <a:ext cx="4521200" cy="4800600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48903A7F-6197-74F1-5AEA-B5EB5BB5CD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267" y="21650288"/>
            <a:ext cx="4660900" cy="4889500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1C777580-F04D-C4FC-0D0D-FFC2372791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13354" y="4054716"/>
            <a:ext cx="6052021" cy="9128828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763517E2-B966-369B-FE55-B386AD0B18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104209" y="3995475"/>
            <a:ext cx="6939120" cy="9059755"/>
          </a:xfrm>
          <a:prstGeom prst="rect">
            <a:avLst/>
          </a:prstGeom>
        </p:spPr>
      </p:pic>
      <p:sp>
        <p:nvSpPr>
          <p:cNvPr id="89" name="Google Shape;89;p1"/>
          <p:cNvSpPr txBox="1"/>
          <p:nvPr/>
        </p:nvSpPr>
        <p:spPr>
          <a:xfrm>
            <a:off x="24014011" y="14284316"/>
            <a:ext cx="13269300" cy="5691569"/>
          </a:xfrm>
          <a:prstGeom prst="rect">
            <a:avLst/>
          </a:prstGeom>
          <a:noFill/>
          <a:ln w="12700" cap="flat" cmpd="sng">
            <a:solidFill>
              <a:srgbClr val="274E1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0" y="0"/>
            <a:ext cx="38404800" cy="1866600"/>
          </a:xfrm>
          <a:prstGeom prst="rect">
            <a:avLst/>
          </a:prstGeom>
          <a:solidFill>
            <a:srgbClr val="93C47D"/>
          </a:solidFill>
          <a:ln>
            <a:noFill/>
          </a:ln>
        </p:spPr>
        <p:txBody>
          <a:bodyPr spcFirstLastPara="1" wrap="square" lIns="340775" tIns="170375" rIns="340775" bIns="170375" anchor="ctr" anchorCtr="0">
            <a:noAutofit/>
          </a:bodyPr>
          <a:lstStyle/>
          <a:p>
            <a:pPr lvl="0">
              <a:buClr>
                <a:srgbClr val="C00000"/>
              </a:buClr>
              <a:buSzPts val="8300"/>
            </a:pPr>
            <a:r>
              <a:rPr lang="en-US" sz="6000" b="1" dirty="0" err="1">
                <a:solidFill>
                  <a:schemeClr val="dk1"/>
                </a:solidFill>
              </a:rPr>
              <a:t>DPGrammar</a:t>
            </a:r>
            <a:r>
              <a:rPr lang="en-US" sz="6000" b="1" dirty="0">
                <a:solidFill>
                  <a:schemeClr val="dk1"/>
                </a:solidFill>
              </a:rPr>
              <a:t>: Frontier Constrained Decoding for Diffusion Language Models</a:t>
            </a:r>
            <a:endParaRPr sz="16600" dirty="0">
              <a:solidFill>
                <a:schemeClr val="dk1"/>
              </a:solidFill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698240" y="1692276"/>
            <a:ext cx="30723900" cy="13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rPr lang="en-US" sz="3700" b="1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Jeng-Yue Liu, Wilson Zheng, </a:t>
            </a:r>
            <a:r>
              <a:rPr lang="en-US" sz="3700" b="1" i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Haoling</a:t>
            </a:r>
            <a:r>
              <a:rPr lang="en-US" sz="3700" b="1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Pu</a:t>
            </a:r>
            <a:endParaRPr sz="3700" b="1" i="1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0" i="1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Carnegie Mellon University, </a:t>
            </a:r>
            <a:r>
              <a:rPr lang="en-US" sz="3000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Language Technologies Institute</a:t>
            </a:r>
            <a:endParaRPr sz="3000" i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3970867" y="7010400"/>
            <a:ext cx="2228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3427610" y="6388888"/>
            <a:ext cx="2240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11280066" y="13436780"/>
            <a:ext cx="12472662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>
                <a:solidFill>
                  <a:schemeClr val="dk1"/>
                </a:solidFill>
              </a:rPr>
              <a:t>Method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23975423" y="20184106"/>
            <a:ext cx="13269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Conclusion and Future Work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24014011" y="13436780"/>
            <a:ext cx="13269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Experimental Results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3852062" y="384969"/>
            <a:ext cx="3263878" cy="12731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2242941" y="415243"/>
            <a:ext cx="1334783" cy="1370388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"/>
          <p:cNvSpPr txBox="1"/>
          <p:nvPr/>
        </p:nvSpPr>
        <p:spPr>
          <a:xfrm>
            <a:off x="1013460" y="3052275"/>
            <a:ext cx="10017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"/>
          <p:cNvSpPr txBox="1"/>
          <p:nvPr/>
        </p:nvSpPr>
        <p:spPr>
          <a:xfrm>
            <a:off x="23975423" y="21036106"/>
            <a:ext cx="13269300" cy="4126487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Conclusion:</a:t>
            </a:r>
            <a:endParaRPr lang="zh-TW" altLang="en-US"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indent="-38735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Deterministic frontier masking (</a:t>
            </a:r>
            <a:r>
              <a:rPr lang="en-US" altLang="zh-TW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Dgrammar</a:t>
            </a: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eliminates stochastic lookahead, removing all timeouts and raising validity to 84.9%</a:t>
            </a:r>
          </a:p>
          <a:p>
            <a:pPr marL="457200" indent="-38735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Viterbi span repair (</a:t>
            </a:r>
            <a:r>
              <a:rPr lang="en-US" altLang="zh-TW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DPGrammar</a:t>
            </a: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closes the remaining gap with 99.2% validity, 1.06 mean resamples, by solving joint multi-token violations in one pass</a:t>
            </a:r>
            <a:endParaRPr lang="en-US"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TW" altLang="en-US"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Future work:</a:t>
            </a:r>
            <a:endParaRPr sz="2700" b="1" i="0" u="sng" strike="noStrike" cap="none" dirty="0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2750" lvl="0" indent="-34290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Extend to code grammars and stricter JSON splits beyond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jsb_medium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and close the final 0.8% gap with tighter completion-phase fallbacks</a:t>
            </a:r>
          </a:p>
          <a:p>
            <a:pPr marL="412750" lvl="0" indent="-34290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Integrate sparse automata acceleration for large-vocabulary efficiency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5" name="Google Shape;105;p1"/>
          <p:cNvSpPr txBox="1"/>
          <p:nvPr/>
        </p:nvSpPr>
        <p:spPr>
          <a:xfrm>
            <a:off x="983946" y="20614767"/>
            <a:ext cx="10058729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dirty="0">
                <a:solidFill>
                  <a:schemeClr val="dk1"/>
                </a:solidFill>
              </a:rPr>
              <a:t>S</a:t>
            </a: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tochastic vs. Deterministic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"/>
          <p:cNvSpPr txBox="1"/>
          <p:nvPr/>
        </p:nvSpPr>
        <p:spPr>
          <a:xfrm>
            <a:off x="1013460" y="3909675"/>
            <a:ext cx="10017300" cy="13350300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Problem Statement: </a:t>
            </a:r>
            <a:endParaRPr sz="2700" b="1" i="0" u="sng" strike="noStrike" cap="none" dirty="0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Discrete Diffusion Language Models (</a:t>
            </a:r>
            <a:r>
              <a:rPr lang="en-US" altLang="zh-TW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dLLMs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are powerful because they generate and refine tokens in parallel. However, this parallel nature makes </a:t>
            </a:r>
            <a:r>
              <a:rPr lang="en-US" altLang="zh-TW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Decoding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(ensuring the model follows a specific JSON schema or grammar) extremely difficult. Unlike traditional models that generate text from left to right, </a:t>
            </a:r>
            <a:r>
              <a:rPr lang="en-US" altLang="zh-TW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dLLMs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update the entire sequence simultaneously, making it impossible to use standard Finite State Machine (FSM) masks directly.</a:t>
            </a: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Challenges: </a:t>
            </a:r>
            <a:endParaRPr sz="2700" b="1" i="0" u="sng" strike="noStrike" cap="none" dirty="0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lvl="0" indent="-361950" algn="just">
              <a:buClr>
                <a:schemeClr val="dk1"/>
              </a:buClr>
              <a:buSzPts val="3100"/>
              <a:buFont typeface="Times New Roman"/>
              <a:buChar char="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Stochastic lookahead is unreliable on hard schemas</a:t>
            </a:r>
            <a:r>
              <a:rPr lang="en-US" sz="25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</a:p>
          <a:p>
            <a:pPr marL="419100" lvl="0"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LAVE</a:t>
            </a:r>
            <a:r>
              <a:rPr lang="en-US" altLang="zh-TW" sz="25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the leading method, verifies each token by sampling random completions, but on schemas with joint multi-token constraints (e.g., nested types, regex patterns), the probability that a random suffix is valid drops to near zero, causing false rejections, 255× redundant forward passes, and frequent timeouts.</a:t>
            </a:r>
            <a:endParaRPr lang="en-US" sz="25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419100" marR="0" lvl="0" indent="-3619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Times New Roman"/>
              <a:buChar char="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Greedy per-position repair cascades</a:t>
            </a:r>
            <a:r>
              <a:rPr lang="en-US" sz="25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endParaRPr sz="25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lvl="0"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Fixing one violated token at a time ignores correlations, where re-masking position c can leave downstream positions in a newly invalid state, triggering repeated resamples across the span.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Our Solution: </a:t>
            </a:r>
            <a:endParaRPr sz="2400" b="0" i="0" u="none" strike="noStrike" cap="none" dirty="0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533400" marR="0" lvl="0" indent="-4254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★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Engineering Optimization (Efficiency Side – </a:t>
            </a:r>
            <a:r>
              <a:rPr lang="en-US" sz="25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DGrammar</a:t>
            </a: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endParaRPr sz="25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Replace stochastic lookahead with deterministic frontier masking, the valid token set is computed directly at each position via an incremental grammar automaton, with no random completions drawn.</a:t>
            </a: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Implemente an Additive Increase / Multiplicative Decrease (AIMD) mechanism to dynamically scale token submission batches, maximizing hardware throughput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533400" marR="0" lvl="0" indent="-4254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★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Algorithmic Innovation (Accuracy Side – </a:t>
            </a:r>
            <a:r>
              <a:rPr lang="en-US" sz="25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DPGrammar</a:t>
            </a: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endParaRPr sz="25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Detects violated spans [c, s) after each batch unmask, positions where the committed tokens break the grammar automaton state.</a:t>
            </a: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Runs a Viterbi Dynamic Programming over the entire span, tracking grammar DFA states across top-K token candidates to jointly select the highest-probability valid replacement sequence in one pass.</a:t>
            </a: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7" name="Google Shape;107;p1"/>
          <p:cNvSpPr txBox="1"/>
          <p:nvPr/>
        </p:nvSpPr>
        <p:spPr>
          <a:xfrm>
            <a:off x="983975" y="21476099"/>
            <a:ext cx="10058700" cy="5148675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endParaRPr sz="2700" b="1" u="sng" dirty="0">
              <a:solidFill>
                <a:srgbClr val="274E1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8" name="Google Shape;108;p1"/>
          <p:cNvSpPr txBox="1"/>
          <p:nvPr/>
        </p:nvSpPr>
        <p:spPr>
          <a:xfrm>
            <a:off x="11298013" y="14284316"/>
            <a:ext cx="12442800" cy="12360222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 dirty="0" err="1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DGrammar</a:t>
            </a:r>
            <a:r>
              <a:rPr lang="en-US" sz="27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 sz="2400" dirty="0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Incremental parser state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maintains a live grammar automaton (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LLMatcher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that advances token-by-token, so mask computation at each position requires only a diff from the previous state rather than recomputing from scratch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Async mask overlap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CPU grammar mask construction runs concurrently with the GPU forward pass, by the time logits are ready, the allowed-token mask is already computed, effectively hiding constraint overhead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AIMD batching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batch size grows additively when tokens are accepted and shrinks multiplicatively on violation, dynamically balancing throughput against resample risk without manual tuning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Early EOS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once the automaton signals a complete, schema-valid string, remaining diffusion steps are skipped, avoiding unnecessary forward passes on already-settled tokens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 dirty="0" err="1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DPGrammar</a:t>
            </a:r>
            <a:r>
              <a:rPr lang="en-US" sz="27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Violation detection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after each batch unmask,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extend_prefix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walks the committed sequence through the grammar automaton; the first position where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try_consume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fails marks the start c of the violated span [c, s)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Phase 1 – rollback exploration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for each position in [c, s), iterates over top-K tokens and calls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try_consume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then rollback on the shared matcher, no cloning, pure in-place state manipulation, to cheaply score all candidates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Phase 2 – clone winners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only the surviving DFA states (one per unique automaton state reached) are deep-copied, so memory scales with grammar branching factor rather than K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Viterbi merge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when two token paths arrive at the same DFA state, the lower-log-probability path is pruned, guaranteeing the backtracked sequence is globally optimal over the span under the current forward's log-probabilities</a:t>
            </a:r>
          </a:p>
        </p:txBody>
      </p:sp>
      <p:sp>
        <p:nvSpPr>
          <p:cNvPr id="111" name="Google Shape;111;p1"/>
          <p:cNvSpPr txBox="1"/>
          <p:nvPr/>
        </p:nvSpPr>
        <p:spPr>
          <a:xfrm>
            <a:off x="24150805" y="19000353"/>
            <a:ext cx="13011731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Table 1: </a:t>
            </a:r>
            <a:r>
              <a:rPr lang="en-US" sz="2500" b="1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jsb_medium</a:t>
            </a:r>
            <a:r>
              <a:rPr lang="en-US" sz="2500" b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results (T = 128 steps). LAVE resamples count lookahead verification draws; </a:t>
            </a:r>
            <a:r>
              <a:rPr lang="en-US" sz="2500" b="1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Dgrammar</a:t>
            </a:r>
            <a:r>
              <a:rPr lang="en-US" sz="2500" b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/</a:t>
            </a:r>
            <a:r>
              <a:rPr lang="en-US" sz="2500" b="1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DPGrammar</a:t>
            </a:r>
            <a:r>
              <a:rPr lang="en-US" sz="2500" b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resamples count token re-mask events. </a:t>
            </a:r>
            <a:endParaRPr sz="250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71A607D-3EB9-07E0-2D1D-0BD893DC42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541456" y="4094589"/>
            <a:ext cx="12139010" cy="8993614"/>
          </a:xfrm>
          <a:prstGeom prst="rect">
            <a:avLst/>
          </a:prstGeom>
        </p:spPr>
      </p:pic>
      <p:sp>
        <p:nvSpPr>
          <p:cNvPr id="6" name="Google Shape;103;p1">
            <a:extLst>
              <a:ext uri="{FF2B5EF4-FFF2-40B4-BE49-F238E27FC236}">
                <a16:creationId xmlns:a16="http://schemas.microsoft.com/office/drawing/2014/main" id="{D51081A6-BF71-47E6-D523-05A91870080C}"/>
              </a:ext>
            </a:extLst>
          </p:cNvPr>
          <p:cNvSpPr txBox="1"/>
          <p:nvPr/>
        </p:nvSpPr>
        <p:spPr>
          <a:xfrm>
            <a:off x="11298012" y="3063312"/>
            <a:ext cx="12466683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Motivated Example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06;p1">
            <a:extLst>
              <a:ext uri="{FF2B5EF4-FFF2-40B4-BE49-F238E27FC236}">
                <a16:creationId xmlns:a16="http://schemas.microsoft.com/office/drawing/2014/main" id="{9194FEAC-7491-8699-246D-9AA3C6EB2462}"/>
              </a:ext>
            </a:extLst>
          </p:cNvPr>
          <p:cNvSpPr txBox="1"/>
          <p:nvPr/>
        </p:nvSpPr>
        <p:spPr>
          <a:xfrm>
            <a:off x="11298012" y="3915312"/>
            <a:ext cx="12466682" cy="9268232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" name="Google Shape;103;p1">
            <a:extLst>
              <a:ext uri="{FF2B5EF4-FFF2-40B4-BE49-F238E27FC236}">
                <a16:creationId xmlns:a16="http://schemas.microsoft.com/office/drawing/2014/main" id="{EDB9B738-623B-CFA5-C3A9-5CE19BA608D0}"/>
              </a:ext>
            </a:extLst>
          </p:cNvPr>
          <p:cNvSpPr txBox="1"/>
          <p:nvPr/>
        </p:nvSpPr>
        <p:spPr>
          <a:xfrm>
            <a:off x="24031947" y="3051907"/>
            <a:ext cx="13233428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Greedy vs. DP Viterbi Repair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6;p1">
            <a:extLst>
              <a:ext uri="{FF2B5EF4-FFF2-40B4-BE49-F238E27FC236}">
                <a16:creationId xmlns:a16="http://schemas.microsoft.com/office/drawing/2014/main" id="{E292DDF0-916F-2624-6920-260E913DE65D}"/>
              </a:ext>
            </a:extLst>
          </p:cNvPr>
          <p:cNvSpPr txBox="1"/>
          <p:nvPr/>
        </p:nvSpPr>
        <p:spPr>
          <a:xfrm>
            <a:off x="24031947" y="3909608"/>
            <a:ext cx="13233428" cy="9268231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" name="Google Shape;104;p1">
            <a:extLst>
              <a:ext uri="{FF2B5EF4-FFF2-40B4-BE49-F238E27FC236}">
                <a16:creationId xmlns:a16="http://schemas.microsoft.com/office/drawing/2014/main" id="{D1DFE31F-C7EA-359A-985D-05FCBCBE35E0}"/>
              </a:ext>
            </a:extLst>
          </p:cNvPr>
          <p:cNvSpPr txBox="1"/>
          <p:nvPr/>
        </p:nvSpPr>
        <p:spPr>
          <a:xfrm>
            <a:off x="23975423" y="25384836"/>
            <a:ext cx="13269300" cy="1259702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References:</a:t>
            </a:r>
          </a:p>
          <a:p>
            <a:pPr lvl="0" algn="just">
              <a:buSzPts val="2700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[1] Zhang et al., “Lookahead-then-Verify: Reliable Constrained Decoding for Diffusion LLMs under Context-Free Grammars”,  ACM’26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lt1"/>
        </a:solid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F5055272-B45A-88E6-97CA-12B22703E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>
            <a:extLst>
              <a:ext uri="{FF2B5EF4-FFF2-40B4-BE49-F238E27FC236}">
                <a16:creationId xmlns:a16="http://schemas.microsoft.com/office/drawing/2014/main" id="{D37A585E-2359-B426-4666-B08520A36169}"/>
              </a:ext>
            </a:extLst>
          </p:cNvPr>
          <p:cNvSpPr txBox="1"/>
          <p:nvPr/>
        </p:nvSpPr>
        <p:spPr>
          <a:xfrm>
            <a:off x="23996096" y="9808688"/>
            <a:ext cx="13269300" cy="11195100"/>
          </a:xfrm>
          <a:prstGeom prst="rect">
            <a:avLst/>
          </a:prstGeom>
          <a:noFill/>
          <a:ln w="12700" cap="flat" cmpd="sng">
            <a:solidFill>
              <a:srgbClr val="274E1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0" name="Google Shape;90;p1">
            <a:extLst>
              <a:ext uri="{FF2B5EF4-FFF2-40B4-BE49-F238E27FC236}">
                <a16:creationId xmlns:a16="http://schemas.microsoft.com/office/drawing/2014/main" id="{F4D12F2C-6CE7-42C2-F3E8-F4EC74CA214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0"/>
            <a:ext cx="38404800" cy="1866600"/>
          </a:xfrm>
          <a:prstGeom prst="rect">
            <a:avLst/>
          </a:prstGeom>
          <a:solidFill>
            <a:srgbClr val="93C47D"/>
          </a:solidFill>
          <a:ln>
            <a:noFill/>
          </a:ln>
        </p:spPr>
        <p:txBody>
          <a:bodyPr spcFirstLastPara="1" wrap="square" lIns="340775" tIns="170375" rIns="340775" bIns="170375" anchor="ctr" anchorCtr="0">
            <a:noAutofit/>
          </a:bodyPr>
          <a:lstStyle/>
          <a:p>
            <a:pPr lvl="0">
              <a:buClr>
                <a:srgbClr val="C00000"/>
              </a:buClr>
              <a:buSzPts val="8300"/>
            </a:pPr>
            <a:r>
              <a:rPr lang="en-US" sz="6000" b="1" dirty="0" err="1">
                <a:solidFill>
                  <a:schemeClr val="dk1"/>
                </a:solidFill>
              </a:rPr>
              <a:t>DPGrammar</a:t>
            </a:r>
            <a:r>
              <a:rPr lang="en-US" sz="6000" b="1" dirty="0">
                <a:solidFill>
                  <a:schemeClr val="dk1"/>
                </a:solidFill>
              </a:rPr>
              <a:t>: Frontier Constrained Decoding for Diffusion Language Models</a:t>
            </a:r>
            <a:endParaRPr sz="16600" dirty="0">
              <a:solidFill>
                <a:schemeClr val="dk1"/>
              </a:solidFill>
            </a:endParaRPr>
          </a:p>
        </p:txBody>
      </p:sp>
      <p:sp>
        <p:nvSpPr>
          <p:cNvPr id="91" name="Google Shape;91;p1">
            <a:extLst>
              <a:ext uri="{FF2B5EF4-FFF2-40B4-BE49-F238E27FC236}">
                <a16:creationId xmlns:a16="http://schemas.microsoft.com/office/drawing/2014/main" id="{DB4AFF84-A7E0-6EF1-6E88-7C654F2BC781}"/>
              </a:ext>
            </a:extLst>
          </p:cNvPr>
          <p:cNvSpPr txBox="1"/>
          <p:nvPr/>
        </p:nvSpPr>
        <p:spPr>
          <a:xfrm>
            <a:off x="11286581" y="3054425"/>
            <a:ext cx="26004000" cy="6459300"/>
          </a:xfrm>
          <a:prstGeom prst="rect">
            <a:avLst/>
          </a:prstGeom>
          <a:noFill/>
          <a:ln w="12700" cap="flat" cmpd="sng">
            <a:solidFill>
              <a:srgbClr val="274E1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1">
            <a:extLst>
              <a:ext uri="{FF2B5EF4-FFF2-40B4-BE49-F238E27FC236}">
                <a16:creationId xmlns:a16="http://schemas.microsoft.com/office/drawing/2014/main" id="{253F4355-7C50-F754-8291-672CD4619166}"/>
              </a:ext>
            </a:extLst>
          </p:cNvPr>
          <p:cNvSpPr txBox="1"/>
          <p:nvPr/>
        </p:nvSpPr>
        <p:spPr>
          <a:xfrm>
            <a:off x="3698240" y="1692276"/>
            <a:ext cx="30723900" cy="13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rPr lang="en-US" sz="3700" b="1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Jeng-Yue Liu, Wilson Zheng, </a:t>
            </a:r>
            <a:r>
              <a:rPr lang="en-US" sz="3700" b="1" i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Haoling</a:t>
            </a:r>
            <a:r>
              <a:rPr lang="en-US" sz="3700" b="1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Pu</a:t>
            </a:r>
            <a:endParaRPr sz="3700" b="1" i="1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0" i="1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Carnegie Mellon University, </a:t>
            </a:r>
            <a:r>
              <a:rPr lang="en-US" sz="3000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Language Technologies Institute</a:t>
            </a:r>
            <a:endParaRPr sz="3000" i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3" name="Google Shape;93;p1">
            <a:extLst>
              <a:ext uri="{FF2B5EF4-FFF2-40B4-BE49-F238E27FC236}">
                <a16:creationId xmlns:a16="http://schemas.microsoft.com/office/drawing/2014/main" id="{55169D7D-56A7-4ADF-D7EE-F7A96F04615A}"/>
              </a:ext>
            </a:extLst>
          </p:cNvPr>
          <p:cNvSpPr txBox="1"/>
          <p:nvPr/>
        </p:nvSpPr>
        <p:spPr>
          <a:xfrm>
            <a:off x="3970867" y="7010400"/>
            <a:ext cx="2228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1">
            <a:extLst>
              <a:ext uri="{FF2B5EF4-FFF2-40B4-BE49-F238E27FC236}">
                <a16:creationId xmlns:a16="http://schemas.microsoft.com/office/drawing/2014/main" id="{32FF96FC-8312-BF2C-A364-FC968D7B8EE6}"/>
              </a:ext>
            </a:extLst>
          </p:cNvPr>
          <p:cNvSpPr txBox="1"/>
          <p:nvPr/>
        </p:nvSpPr>
        <p:spPr>
          <a:xfrm>
            <a:off x="13427610" y="6388888"/>
            <a:ext cx="2240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1">
            <a:extLst>
              <a:ext uri="{FF2B5EF4-FFF2-40B4-BE49-F238E27FC236}">
                <a16:creationId xmlns:a16="http://schemas.microsoft.com/office/drawing/2014/main" id="{117A9804-DC74-784A-88A4-BF11AA5989CD}"/>
              </a:ext>
            </a:extLst>
          </p:cNvPr>
          <p:cNvSpPr txBox="1"/>
          <p:nvPr/>
        </p:nvSpPr>
        <p:spPr>
          <a:xfrm>
            <a:off x="11298013" y="9802225"/>
            <a:ext cx="124428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>
                <a:solidFill>
                  <a:schemeClr val="dk1"/>
                </a:solidFill>
              </a:rPr>
              <a:t>Method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">
            <a:extLst>
              <a:ext uri="{FF2B5EF4-FFF2-40B4-BE49-F238E27FC236}">
                <a16:creationId xmlns:a16="http://schemas.microsoft.com/office/drawing/2014/main" id="{1236294E-8CBE-7495-EF9A-F13D351BA728}"/>
              </a:ext>
            </a:extLst>
          </p:cNvPr>
          <p:cNvSpPr txBox="1"/>
          <p:nvPr/>
        </p:nvSpPr>
        <p:spPr>
          <a:xfrm>
            <a:off x="11297985" y="21682900"/>
            <a:ext cx="12442800" cy="4941900"/>
          </a:xfrm>
          <a:prstGeom prst="rect">
            <a:avLst/>
          </a:prstGeom>
          <a:noFill/>
          <a:ln w="12700" cap="flat" cmpd="sng">
            <a:solidFill>
              <a:srgbClr val="0057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US" sz="2700" b="1" u="sng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Reranker:</a:t>
            </a:r>
            <a:endParaRPr sz="2700" b="1" u="sng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bge-reranker-large yields MBPP gains; weaker rerankers consistently underperform the no-rerank baseline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Increasing prefilter n beyond 20 degrades pass@1, likely due to noisy candidate overload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Blend weights have negligible effect once n is small and the reranker is strong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endParaRPr sz="2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US" sz="2700" b="1" u="sng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Context Summarization:</a:t>
            </a:r>
            <a:endParaRPr sz="2500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Applying summarization didn’t improve StarCoder2-7B performance on MBPP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Summarization succeeded at reducing input size but sacrificed semantic fidelity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Text-trained summarizers strip away critical program semantics, making them poorly suited to preserve programming logic or structure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Generic text-style summarization does not benefit RAG-based code generation</a:t>
            </a:r>
            <a:endParaRPr sz="2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7" name="Google Shape;97;p1">
            <a:extLst>
              <a:ext uri="{FF2B5EF4-FFF2-40B4-BE49-F238E27FC236}">
                <a16:creationId xmlns:a16="http://schemas.microsoft.com/office/drawing/2014/main" id="{255564B7-AD70-C9A8-B274-E61E9A25587F}"/>
              </a:ext>
            </a:extLst>
          </p:cNvPr>
          <p:cNvSpPr txBox="1"/>
          <p:nvPr/>
        </p:nvSpPr>
        <p:spPr>
          <a:xfrm>
            <a:off x="23996096" y="21181525"/>
            <a:ext cx="13269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Future Wor</a:t>
            </a:r>
            <a:r>
              <a:rPr lang="en-US" sz="3300" b="1" dirty="0">
                <a:solidFill>
                  <a:schemeClr val="dk1"/>
                </a:solidFill>
              </a:rPr>
              <a:t>k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">
            <a:extLst>
              <a:ext uri="{FF2B5EF4-FFF2-40B4-BE49-F238E27FC236}">
                <a16:creationId xmlns:a16="http://schemas.microsoft.com/office/drawing/2014/main" id="{4ACB3BC0-2E44-2026-75AB-C34D3CE9DFC0}"/>
              </a:ext>
            </a:extLst>
          </p:cNvPr>
          <p:cNvSpPr txBox="1"/>
          <p:nvPr/>
        </p:nvSpPr>
        <p:spPr>
          <a:xfrm>
            <a:off x="11297999" y="20830888"/>
            <a:ext cx="124428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Results Analysis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">
            <a:extLst>
              <a:ext uri="{FF2B5EF4-FFF2-40B4-BE49-F238E27FC236}">
                <a16:creationId xmlns:a16="http://schemas.microsoft.com/office/drawing/2014/main" id="{2FE6640F-AF7C-0E5C-4E49-3FDD63E8A8A0}"/>
              </a:ext>
            </a:extLst>
          </p:cNvPr>
          <p:cNvSpPr txBox="1"/>
          <p:nvPr/>
        </p:nvSpPr>
        <p:spPr>
          <a:xfrm>
            <a:off x="11286590" y="3054426"/>
            <a:ext cx="260040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>
                <a:solidFill>
                  <a:schemeClr val="dk1"/>
                </a:solidFill>
              </a:rPr>
              <a:t>Pipeline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">
            <a:extLst>
              <a:ext uri="{FF2B5EF4-FFF2-40B4-BE49-F238E27FC236}">
                <a16:creationId xmlns:a16="http://schemas.microsoft.com/office/drawing/2014/main" id="{8AAED11B-576D-FA99-E226-19464DC3787C}"/>
              </a:ext>
            </a:extLst>
          </p:cNvPr>
          <p:cNvSpPr txBox="1"/>
          <p:nvPr/>
        </p:nvSpPr>
        <p:spPr>
          <a:xfrm>
            <a:off x="23994495" y="9802213"/>
            <a:ext cx="13269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Experimental Results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">
            <a:extLst>
              <a:ext uri="{FF2B5EF4-FFF2-40B4-BE49-F238E27FC236}">
                <a16:creationId xmlns:a16="http://schemas.microsoft.com/office/drawing/2014/main" id="{F1114F79-0548-C79A-C6E7-CDDE8496BFF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852062" y="384969"/>
            <a:ext cx="3263878" cy="12731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">
            <a:extLst>
              <a:ext uri="{FF2B5EF4-FFF2-40B4-BE49-F238E27FC236}">
                <a16:creationId xmlns:a16="http://schemas.microsoft.com/office/drawing/2014/main" id="{F39B6851-45B7-13B6-10B9-6F5C93A0781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2242941" y="415243"/>
            <a:ext cx="1334783" cy="1370388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">
            <a:extLst>
              <a:ext uri="{FF2B5EF4-FFF2-40B4-BE49-F238E27FC236}">
                <a16:creationId xmlns:a16="http://schemas.microsoft.com/office/drawing/2014/main" id="{8C7E5CC2-5904-2524-C853-BB11CC7983E3}"/>
              </a:ext>
            </a:extLst>
          </p:cNvPr>
          <p:cNvSpPr txBox="1"/>
          <p:nvPr/>
        </p:nvSpPr>
        <p:spPr>
          <a:xfrm>
            <a:off x="1013460" y="3052275"/>
            <a:ext cx="10017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Motivation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">
            <a:extLst>
              <a:ext uri="{FF2B5EF4-FFF2-40B4-BE49-F238E27FC236}">
                <a16:creationId xmlns:a16="http://schemas.microsoft.com/office/drawing/2014/main" id="{011C63FA-7D7F-87FD-5DCE-07EFDB1FD568}"/>
              </a:ext>
            </a:extLst>
          </p:cNvPr>
          <p:cNvSpPr txBox="1"/>
          <p:nvPr/>
        </p:nvSpPr>
        <p:spPr>
          <a:xfrm>
            <a:off x="23996075" y="22033525"/>
            <a:ext cx="13269300" cy="4591200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Advanced Summarization Strategies: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Investigate hybrid approaches that combine natural-language abstraction with symbolic representations to maintain logical fidelity and reduce loss of critical implementation details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Code Based Reranking:</a:t>
            </a:r>
            <a:endParaRPr sz="2700" b="1" i="0" u="sng" strike="noStrike" cap="none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Develop learned or supervised reranking models trained on code-specific relevance signals, such as API usage similarity, dependency paths, or semantic proximity between functions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Hierarchical Compression for Repository-Scale Input:</a:t>
            </a:r>
            <a:endParaRPr sz="2700" b="1" u="sng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Develop multi-level compression that preserves semantic structure rather than raw text, allowing efficient injection of repository-level information into long contexts</a:t>
            </a:r>
            <a:endParaRPr sz="2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5" name="Google Shape;105;p1">
            <a:extLst>
              <a:ext uri="{FF2B5EF4-FFF2-40B4-BE49-F238E27FC236}">
                <a16:creationId xmlns:a16="http://schemas.microsoft.com/office/drawing/2014/main" id="{98C784CA-A477-0E89-E8E5-62CB9D2C07E0}"/>
              </a:ext>
            </a:extLst>
          </p:cNvPr>
          <p:cNvSpPr txBox="1"/>
          <p:nvPr/>
        </p:nvSpPr>
        <p:spPr>
          <a:xfrm>
            <a:off x="1025404" y="17512575"/>
            <a:ext cx="10017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Related Work</a:t>
            </a:r>
            <a:r>
              <a:rPr lang="en-US" sz="3300" b="1">
                <a:solidFill>
                  <a:schemeClr val="dk1"/>
                </a:solidFill>
              </a:rPr>
              <a:t>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">
            <a:extLst>
              <a:ext uri="{FF2B5EF4-FFF2-40B4-BE49-F238E27FC236}">
                <a16:creationId xmlns:a16="http://schemas.microsoft.com/office/drawing/2014/main" id="{E24586C5-B859-F78B-FB06-5D9F215099BB}"/>
              </a:ext>
            </a:extLst>
          </p:cNvPr>
          <p:cNvSpPr txBox="1"/>
          <p:nvPr/>
        </p:nvSpPr>
        <p:spPr>
          <a:xfrm>
            <a:off x="1013460" y="3909675"/>
            <a:ext cx="10017300" cy="13350300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Problem Statement: </a:t>
            </a:r>
            <a:endParaRPr sz="2700" b="1" i="0" u="sng" strike="noStrike" cap="none" dirty="0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Discrete Diffusion Language Models (</a:t>
            </a:r>
            <a:r>
              <a:rPr lang="en-US" altLang="zh-TW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dLLMs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are powerful because they generate and refine tokens in parallel. However, this parallel nature makes </a:t>
            </a:r>
            <a:r>
              <a:rPr lang="en-US" altLang="zh-TW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Decoding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(ensuring the model follows a specific JSON schema or grammar) extremely difficult. Unlike traditional models that generate text from left to right, </a:t>
            </a:r>
            <a:r>
              <a:rPr lang="en-US" altLang="zh-TW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dLLMs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update the entire sequence simultaneously, making it impossible to use standard Finite State Machine (FSM) masks directly.</a:t>
            </a: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Challenges: </a:t>
            </a:r>
            <a:endParaRPr sz="2700" b="1" i="0" u="sng" strike="noStrike" cap="none" dirty="0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lvl="0" indent="-361950" algn="just">
              <a:buClr>
                <a:schemeClr val="dk1"/>
              </a:buClr>
              <a:buSzPts val="3100"/>
              <a:buFont typeface="Times New Roman"/>
              <a:buChar char="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Stochastic lookahead is unreliable on hard schemas</a:t>
            </a:r>
            <a:r>
              <a:rPr lang="en-US" sz="25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</a:p>
          <a:p>
            <a:pPr marL="419100" lvl="0"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leading method (LAVE) verifies each token by sampling random completions, but on schemas with joint multi-token constraints (e.g., nested types, regex patterns), the probability that a random suffix is valid drops to near zero, causing false rejections, 255× redundant forward passes, and frequent timeouts.</a:t>
            </a:r>
            <a:endParaRPr lang="en-US" sz="25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419100" marR="0" lvl="0" indent="-3619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Times New Roman"/>
              <a:buChar char="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Greedy per-position repair cascades</a:t>
            </a:r>
            <a:r>
              <a:rPr lang="en-US" sz="25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endParaRPr sz="25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lvl="0"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Fixing one violated token at a time ignores correlations, where re-masking position c can leave downstream positions in a newly invalid state, triggering repeated resamples across the span.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Our Solution: </a:t>
            </a:r>
            <a:endParaRPr sz="2400" b="0" i="0" u="none" strike="noStrike" cap="none" dirty="0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533400" marR="0" lvl="0" indent="-4254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★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Engineering Optimization (Efficiency Side)</a:t>
            </a:r>
            <a:endParaRPr sz="25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Replace stochastic lookahead with deterministic frontier masking, the valid token set is computed directly at each position via an incremental grammar automaton, with no random completions drawn.</a:t>
            </a: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Implemente an Additive Increase / Multiplicative Decrease (AIMD) mechanism to dynamically scale token submission batches, maximizing hardware throughput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533400" marR="0" lvl="0" indent="-4254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★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Algorithmic Innovation (Accuracy Side)</a:t>
            </a:r>
            <a:endParaRPr sz="25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Detects violated spans [c, s) after each batch unmask, positions where the committed tokens break the grammar automaton state.</a:t>
            </a: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Runs a Viterbi DP over the entire span, tracking grammar DFA states across top-K token candidates to jointly select the highest-probability valid replacement sequence in one pass.</a:t>
            </a: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7" name="Google Shape;107;p1">
            <a:extLst>
              <a:ext uri="{FF2B5EF4-FFF2-40B4-BE49-F238E27FC236}">
                <a16:creationId xmlns:a16="http://schemas.microsoft.com/office/drawing/2014/main" id="{CB797535-945B-3CEF-16DD-6E0A5F1065BC}"/>
              </a:ext>
            </a:extLst>
          </p:cNvPr>
          <p:cNvSpPr txBox="1"/>
          <p:nvPr/>
        </p:nvSpPr>
        <p:spPr>
          <a:xfrm>
            <a:off x="983975" y="18364575"/>
            <a:ext cx="10058700" cy="8260200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CodeRAG-Bench: </a:t>
            </a:r>
            <a:endParaRPr sz="2400" b="0" i="0" u="none" strike="noStrike" cap="none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marR="0" lvl="0" indent="-3556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Provides the first large-scale benchmark evaluating RAG for code generation across multiple LLMs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Highlights that limited context windows force truncation of long retrieved code examples, reducing the impact of correct retrieval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marR="0" lvl="0" indent="-3556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Finds that RAG gains are highly dependent on the quality and precision of retrieved context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Lost in the Middle: How Language Models Use Long Contexts</a:t>
            </a:r>
            <a:endParaRPr sz="2400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Introduces the lost-in-the-middle effect: LLMs ignore information buried in long inputs due to quadratic attention cost and memory budgets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Demonstrates that placing relevant information at the beginning or end of the prompt is significantly more effective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u="sng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AllianceCoder:</a:t>
            </a:r>
            <a:endParaRPr sz="2700" b="1" u="sng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400050" algn="just" rtl="0"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27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Shows that naive concatenation of raw retrieved code causes context bloat and distracts the model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400050" algn="just" rtl="0"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27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Uses reranking and summarization to produce more focused input for the generator</a:t>
            </a:r>
            <a:endParaRPr sz="2700" b="1" u="sng">
              <a:solidFill>
                <a:srgbClr val="274E1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8" name="Google Shape;108;p1">
            <a:extLst>
              <a:ext uri="{FF2B5EF4-FFF2-40B4-BE49-F238E27FC236}">
                <a16:creationId xmlns:a16="http://schemas.microsoft.com/office/drawing/2014/main" id="{71FAFC4C-78E4-20E3-D0F9-C292A39C5405}"/>
              </a:ext>
            </a:extLst>
          </p:cNvPr>
          <p:cNvSpPr txBox="1"/>
          <p:nvPr/>
        </p:nvSpPr>
        <p:spPr>
          <a:xfrm>
            <a:off x="11298000" y="10654225"/>
            <a:ext cx="12442800" cy="9988500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 dirty="0" err="1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Reranker</a:t>
            </a:r>
            <a:r>
              <a:rPr lang="en-US" sz="27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(Experiment 1):</a:t>
            </a:r>
            <a:endParaRPr sz="2400" dirty="0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Insert a </a:t>
            </a: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cross-encoder </a:t>
            </a:r>
            <a:r>
              <a:rPr lang="en-US" sz="25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reranker</a:t>
            </a: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between BM25 retriever and code generator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Reranker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scores “prefilter n” (top n) candidates and selects top k chunks as context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Selected chunks concatenate with problem description before decoding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Evaluate three pretrained 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rerankers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on top of StarCoder2-7B.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bge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reranker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-base / 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bge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reranker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-large: cross-encoder models optimized for reranking tasks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ms-marco-MiniLM-L-6-v2: a cross-encoder model trained on the MS Marco Passage Ranking task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Experiment with various prefilter n and blend weights to study reranking configurations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Prefilter n controls BM25 candidates passed to 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reranker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Blend weight interpolates BM25 score with 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reranker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score during ranking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Context Summarization (Experiment 2):</a:t>
            </a:r>
            <a:endParaRPr sz="2600" dirty="0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pre-trained summarization model compresses large code files into concise, </a:t>
            </a: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structured representations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These summaries provide clean, canonicalized views of project components, enabling much more effective use of the available context window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Pretrained Summarization Model:</a:t>
            </a:r>
            <a:endParaRPr sz="25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facebook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/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bart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-base: fine-tuned for text generation (e.g. summarization)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facebook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/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bart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-large-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cnn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fine-tuned on CNN Daily Mail, a large collection of text-summary pairs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google/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pegasus-xsum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pretrained on unlabeled text to perform abstractive summarization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lxyuan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/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distilbart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-finetuned-summarization: lightweight distilled model for faster, resource-efficient summarization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9" name="Google Shape;109;p1" title="Screenshot 2025-11-29 at 10.45.10 PM.png">
            <a:extLst>
              <a:ext uri="{FF2B5EF4-FFF2-40B4-BE49-F238E27FC236}">
                <a16:creationId xmlns:a16="http://schemas.microsoft.com/office/drawing/2014/main" id="{02850583-BCBA-0C10-6F7E-5F86296AA0B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r="901"/>
          <a:stretch/>
        </p:blipFill>
        <p:spPr>
          <a:xfrm>
            <a:off x="23996096" y="17259918"/>
            <a:ext cx="12572774" cy="3553271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">
            <a:extLst>
              <a:ext uri="{FF2B5EF4-FFF2-40B4-BE49-F238E27FC236}">
                <a16:creationId xmlns:a16="http://schemas.microsoft.com/office/drawing/2014/main" id="{03923127-42DC-99AA-F212-DBE512F303F2}"/>
              </a:ext>
            </a:extLst>
          </p:cNvPr>
          <p:cNvSpPr txBox="1"/>
          <p:nvPr/>
        </p:nvSpPr>
        <p:spPr>
          <a:xfrm>
            <a:off x="24011328" y="10729838"/>
            <a:ext cx="12581400" cy="8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Table1: Effect of different reranking models  on MBPP pass@1 accuracy</a:t>
            </a:r>
            <a:endParaRPr sz="25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1" name="Google Shape;111;p1">
            <a:extLst>
              <a:ext uri="{FF2B5EF4-FFF2-40B4-BE49-F238E27FC236}">
                <a16:creationId xmlns:a16="http://schemas.microsoft.com/office/drawing/2014/main" id="{9ADF44B9-0F16-D64B-FA33-43DA830107DD}"/>
              </a:ext>
            </a:extLst>
          </p:cNvPr>
          <p:cNvSpPr txBox="1"/>
          <p:nvPr/>
        </p:nvSpPr>
        <p:spPr>
          <a:xfrm>
            <a:off x="24037053" y="16656038"/>
            <a:ext cx="12581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Table2: Effect of different summarization models on MBPP pass@1 accuracy</a:t>
            </a:r>
            <a:endParaRPr sz="25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2" name="Google Shape;112;p1" title="Screenshot 2025-11-30 at 9.14.00 PM.png">
            <a:extLst>
              <a:ext uri="{FF2B5EF4-FFF2-40B4-BE49-F238E27FC236}">
                <a16:creationId xmlns:a16="http://schemas.microsoft.com/office/drawing/2014/main" id="{AE5AF153-AFC6-C62B-53C7-1F233B58FE2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r="1893"/>
          <a:stretch/>
        </p:blipFill>
        <p:spPr>
          <a:xfrm>
            <a:off x="24020141" y="11315088"/>
            <a:ext cx="12472200" cy="518517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98978708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</TotalTime>
  <Words>1628</Words>
  <Application>Microsoft Macintosh PowerPoint</Application>
  <PresentationFormat>自訂</PresentationFormat>
  <Paragraphs>128</Paragraphs>
  <Slides>2</Slides>
  <Notes>2</Notes>
  <HiddenSlides>1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7" baseType="lpstr">
      <vt:lpstr>Arial</vt:lpstr>
      <vt:lpstr>Courier New</vt:lpstr>
      <vt:lpstr>Times New Roman</vt:lpstr>
      <vt:lpstr>Wingdings</vt:lpstr>
      <vt:lpstr>Default Design</vt:lpstr>
      <vt:lpstr>DPGrammar: Frontier Constrained Decoding for Diffusion Language Models</vt:lpstr>
      <vt:lpstr>DPGrammar: Frontier Constrained Decoding for Diffusion Language Models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Judy Sun</dc:creator>
  <cp:lastModifiedBy>Buffett Liu</cp:lastModifiedBy>
  <cp:revision>17</cp:revision>
  <dcterms:created xsi:type="dcterms:W3CDTF">1998-03-03T17:19:34Z</dcterms:created>
  <dcterms:modified xsi:type="dcterms:W3CDTF">2026-04-19T19:50:27Z</dcterms:modified>
</cp:coreProperties>
</file>